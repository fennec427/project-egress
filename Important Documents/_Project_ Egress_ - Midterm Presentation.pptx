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layfair Display"/>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regular.fntdata"/><Relationship Id="rId22" Type="http://schemas.openxmlformats.org/officeDocument/2006/relationships/font" Target="fonts/PlayfairDisplay-italic.fntdata"/><Relationship Id="rId21" Type="http://schemas.openxmlformats.org/officeDocument/2006/relationships/font" Target="fonts/PlayfairDisplay-bold.fntdata"/><Relationship Id="rId24" Type="http://schemas.openxmlformats.org/officeDocument/2006/relationships/font" Target="fonts/Lato-regular.fntdata"/><Relationship Id="rId23" Type="http://schemas.openxmlformats.org/officeDocument/2006/relationships/font" Target="fonts/PlayfairDispl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3848673e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3848673e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Maddie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3773b32fc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3773b32f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3848673e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3848673e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Maddie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6ce55242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6ce55242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Liam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3848673e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3848673e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Liam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3848673e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3848673e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6c319732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6c319732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3848673e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3848673ee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3848673e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3848673e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Liam, Maddie, &amp; Ethan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3848673ee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3848673e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Maddie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3848673ee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3848673ee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Maddie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3848673ee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d3848673ee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Liam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3848673ee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d3848673ee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7" name="Google Shape;17;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8" name="Google Shape;18;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21" name="Google Shape;21;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4" name="Google Shape;34;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41" name="Google Shape;41;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5" name="Google Shape;45;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 name="Google Shape;46;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8" name="Google Shape;48;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1" name="Google Shape;51;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5" name="Google Shape;55;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 name="Google Shape;10;p1"/>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 name="Google Shape;11;p1"/>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 name="Google Shape;12;p1"/>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7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5.png"/><Relationship Id="rId10" Type="http://schemas.openxmlformats.org/officeDocument/2006/relationships/image" Target="../media/image11.png"/><Relationship Id="rId9"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20.png"/><Relationship Id="rId7" Type="http://schemas.openxmlformats.org/officeDocument/2006/relationships/image" Target="../media/image3.png"/><Relationship Id="rId8"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drive.google.com/file/d/1wh7Hk-58p-AwfC_kg3gSQ0TgLwXHYLao/view"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5.pn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github.com/Fennec427/Project-Egress" TargetMode="Externa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 name="Google Shape;64;p13"/>
          <p:cNvSpPr txBox="1"/>
          <p:nvPr>
            <p:ph type="ctrTitle"/>
          </p:nvPr>
        </p:nvSpPr>
        <p:spPr>
          <a:xfrm>
            <a:off x="419025" y="2066036"/>
            <a:ext cx="3897900" cy="90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rgbClr val="7F6530"/>
                </a:solidFill>
                <a:latin typeface="Playfair Display"/>
                <a:ea typeface="Playfair Display"/>
                <a:cs typeface="Playfair Display"/>
                <a:sym typeface="Playfair Display"/>
              </a:rPr>
              <a:t>“</a:t>
            </a:r>
            <a:r>
              <a:rPr lang="en" u="sng">
                <a:solidFill>
                  <a:srgbClr val="7F6530"/>
                </a:solidFill>
                <a:latin typeface="Playfair Display"/>
                <a:ea typeface="Playfair Display"/>
                <a:cs typeface="Playfair Display"/>
                <a:sym typeface="Playfair Display"/>
              </a:rPr>
              <a:t>Project: Egress” </a:t>
            </a:r>
            <a:endParaRPr sz="2600" u="sng">
              <a:solidFill>
                <a:srgbClr val="7F6530"/>
              </a:solidFill>
              <a:latin typeface="Playfair Display"/>
              <a:ea typeface="Playfair Display"/>
              <a:cs typeface="Playfair Display"/>
              <a:sym typeface="Playfair Display"/>
            </a:endParaRPr>
          </a:p>
        </p:txBody>
      </p:sp>
      <p:pic>
        <p:nvPicPr>
          <p:cNvPr id="65" name="Google Shape;65;p13"/>
          <p:cNvPicPr preferRelativeResize="0"/>
          <p:nvPr/>
        </p:nvPicPr>
        <p:blipFill>
          <a:blip r:embed="rId3">
            <a:alphaModFix/>
          </a:blip>
          <a:stretch>
            <a:fillRect/>
          </a:stretch>
        </p:blipFill>
        <p:spPr>
          <a:xfrm>
            <a:off x="4974346" y="751950"/>
            <a:ext cx="3633800" cy="3639625"/>
          </a:xfrm>
          <a:prstGeom prst="rect">
            <a:avLst/>
          </a:prstGeom>
          <a:noFill/>
          <a:ln>
            <a:noFill/>
          </a:ln>
        </p:spPr>
      </p:pic>
      <p:sp>
        <p:nvSpPr>
          <p:cNvPr id="66" name="Google Shape;66;p13"/>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 name="Google Shape;67;p13"/>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8" name="Google Shape;68;p13"/>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9" name="Google Shape;69;p13"/>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 name="Google Shape;70;p13"/>
          <p:cNvSpPr/>
          <p:nvPr/>
        </p:nvSpPr>
        <p:spPr>
          <a:xfrm>
            <a:off x="545900" y="287075"/>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 name="Google Shape;71;p13"/>
          <p:cNvSpPr/>
          <p:nvPr/>
        </p:nvSpPr>
        <p:spPr>
          <a:xfrm>
            <a:off x="2448625" y="3945125"/>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 name="Google Shape;72;p13"/>
          <p:cNvSpPr/>
          <p:nvPr/>
        </p:nvSpPr>
        <p:spPr>
          <a:xfrm>
            <a:off x="1704925" y="979175"/>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3" name="Google Shape;73;p13"/>
          <p:cNvSpPr/>
          <p:nvPr/>
        </p:nvSpPr>
        <p:spPr>
          <a:xfrm>
            <a:off x="8353300" y="239100"/>
            <a:ext cx="413400" cy="4308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 name="Google Shape;74;p13"/>
          <p:cNvSpPr/>
          <p:nvPr/>
        </p:nvSpPr>
        <p:spPr>
          <a:xfrm>
            <a:off x="2855200" y="258275"/>
            <a:ext cx="746400" cy="7209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 name="Google Shape;75;p13"/>
          <p:cNvSpPr/>
          <p:nvPr/>
        </p:nvSpPr>
        <p:spPr>
          <a:xfrm>
            <a:off x="632750" y="3765750"/>
            <a:ext cx="630600" cy="6090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6" name="Google Shape;76;p13"/>
          <p:cNvSpPr/>
          <p:nvPr/>
        </p:nvSpPr>
        <p:spPr>
          <a:xfrm>
            <a:off x="3355225" y="3273925"/>
            <a:ext cx="630600" cy="6090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7" name="Google Shape;77;p13"/>
          <p:cNvSpPr/>
          <p:nvPr/>
        </p:nvSpPr>
        <p:spPr>
          <a:xfrm>
            <a:off x="3985825" y="979175"/>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 name="Google Shape;78;p13"/>
          <p:cNvSpPr/>
          <p:nvPr/>
        </p:nvSpPr>
        <p:spPr>
          <a:xfrm>
            <a:off x="1551088" y="3185375"/>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 name="Google Shape;79;p13"/>
          <p:cNvSpPr/>
          <p:nvPr/>
        </p:nvSpPr>
        <p:spPr>
          <a:xfrm>
            <a:off x="4461200" y="239100"/>
            <a:ext cx="413400" cy="4308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0" name="Google Shape;80;p13"/>
          <p:cNvSpPr/>
          <p:nvPr/>
        </p:nvSpPr>
        <p:spPr>
          <a:xfrm>
            <a:off x="4194125" y="4062800"/>
            <a:ext cx="630600" cy="6090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 name="Google Shape;81;p13"/>
          <p:cNvSpPr/>
          <p:nvPr/>
        </p:nvSpPr>
        <p:spPr>
          <a:xfrm>
            <a:off x="4365150" y="227503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2" name="Google Shape;82;p13"/>
          <p:cNvSpPr/>
          <p:nvPr/>
        </p:nvSpPr>
        <p:spPr>
          <a:xfrm>
            <a:off x="346170" y="2370820"/>
            <a:ext cx="263400" cy="3135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3" name="Google Shape;83;p13"/>
          <p:cNvSpPr/>
          <p:nvPr/>
        </p:nvSpPr>
        <p:spPr>
          <a:xfrm>
            <a:off x="979775" y="1493225"/>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4" name="Google Shape;84;p13"/>
          <p:cNvSpPr/>
          <p:nvPr/>
        </p:nvSpPr>
        <p:spPr>
          <a:xfrm>
            <a:off x="3052058" y="1642470"/>
            <a:ext cx="263400" cy="3135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 name="Google Shape;85;p13"/>
          <p:cNvSpPr/>
          <p:nvPr/>
        </p:nvSpPr>
        <p:spPr>
          <a:xfrm>
            <a:off x="8302850" y="4432575"/>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 name="Google Shape;86;p13"/>
          <p:cNvSpPr txBox="1"/>
          <p:nvPr/>
        </p:nvSpPr>
        <p:spPr>
          <a:xfrm>
            <a:off x="5496002" y="184732"/>
            <a:ext cx="2590500" cy="6633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1144">
                <a:solidFill>
                  <a:srgbClr val="7F6530"/>
                </a:solidFill>
                <a:latin typeface="Playfair Display"/>
                <a:ea typeface="Playfair Display"/>
                <a:cs typeface="Playfair Display"/>
                <a:sym typeface="Playfair Display"/>
              </a:rPr>
              <a:t>Official &amp; Finalized Logo made with </a:t>
            </a:r>
            <a:r>
              <a:rPr b="1" lang="en" sz="1144">
                <a:solidFill>
                  <a:srgbClr val="7F6530"/>
                </a:solidFill>
                <a:latin typeface="Playfair Display"/>
                <a:ea typeface="Playfair Display"/>
                <a:cs typeface="Playfair Display"/>
                <a:sym typeface="Playfair Display"/>
              </a:rPr>
              <a:t>Piskel:</a:t>
            </a:r>
            <a:endParaRPr b="1" sz="1900">
              <a:solidFill>
                <a:srgbClr val="7F6530"/>
              </a:solidFill>
              <a:latin typeface="Playfair Display"/>
              <a:ea typeface="Playfair Display"/>
              <a:cs typeface="Playfair Display"/>
              <a:sym typeface="Playfair Display"/>
            </a:endParaRPr>
          </a:p>
        </p:txBody>
      </p:sp>
      <p:sp>
        <p:nvSpPr>
          <p:cNvPr id="87" name="Google Shape;87;p13"/>
          <p:cNvSpPr/>
          <p:nvPr/>
        </p:nvSpPr>
        <p:spPr>
          <a:xfrm>
            <a:off x="6081597" y="4491224"/>
            <a:ext cx="363900" cy="372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mc:AlternateContent>
    <mc:Choice Requires="p14">
      <p:transition spd="slow" p14:dur="1000">
        <p:pus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 name="Google Shape;93;p14"/>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 name="Google Shape;94;p14"/>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 name="Google Shape;95;p14"/>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 name="Google Shape;96;p14"/>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7" name="Google Shape;97;p14"/>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4271E"/>
                </a:solidFill>
              </a:rPr>
              <a:t>What is “Project: Egress”?</a:t>
            </a:r>
            <a:endParaRPr u="sng">
              <a:solidFill>
                <a:srgbClr val="F4271E"/>
              </a:solidFill>
            </a:endParaRPr>
          </a:p>
        </p:txBody>
      </p:sp>
      <p:sp>
        <p:nvSpPr>
          <p:cNvPr id="98" name="Google Shape;98;p14"/>
          <p:cNvSpPr txBox="1"/>
          <p:nvPr>
            <p:ph idx="1" type="body"/>
          </p:nvPr>
        </p:nvSpPr>
        <p:spPr>
          <a:xfrm>
            <a:off x="586500" y="975667"/>
            <a:ext cx="79737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rgbClr val="F4271E"/>
              </a:buClr>
              <a:buSzPts val="1800"/>
              <a:buFont typeface="Playfair Display"/>
              <a:buChar char="●"/>
            </a:pPr>
            <a:r>
              <a:rPr lang="en">
                <a:solidFill>
                  <a:srgbClr val="F4271E"/>
                </a:solidFill>
                <a:latin typeface="Playfair Display"/>
                <a:ea typeface="Playfair Display"/>
                <a:cs typeface="Playfair Display"/>
                <a:sym typeface="Playfair Display"/>
              </a:rPr>
              <a:t>Project Egress is a </a:t>
            </a:r>
            <a:r>
              <a:rPr lang="en" sz="2500">
                <a:solidFill>
                  <a:srgbClr val="F4271E"/>
                </a:solidFill>
                <a:latin typeface="Playfair Display"/>
                <a:ea typeface="Playfair Display"/>
                <a:cs typeface="Playfair Display"/>
                <a:sym typeface="Playfair Display"/>
              </a:rPr>
              <a:t>2</a:t>
            </a:r>
            <a:r>
              <a:rPr lang="en">
                <a:solidFill>
                  <a:srgbClr val="F4271E"/>
                </a:solidFill>
                <a:latin typeface="Playfair Display"/>
                <a:ea typeface="Playfair Display"/>
                <a:cs typeface="Playfair Display"/>
                <a:sym typeface="Playfair Display"/>
              </a:rPr>
              <a:t>D platformer with a unique mechanic of paints.</a:t>
            </a:r>
            <a:endParaRPr>
              <a:solidFill>
                <a:srgbClr val="F4271E"/>
              </a:solidFill>
              <a:latin typeface="Playfair Display"/>
              <a:ea typeface="Playfair Display"/>
              <a:cs typeface="Playfair Display"/>
              <a:sym typeface="Playfair Display"/>
            </a:endParaRPr>
          </a:p>
          <a:p>
            <a:pPr indent="-342900" lvl="0" marL="457200" rtl="0" algn="l">
              <a:lnSpc>
                <a:spcPct val="150000"/>
              </a:lnSpc>
              <a:spcBef>
                <a:spcPts val="0"/>
              </a:spcBef>
              <a:spcAft>
                <a:spcPts val="0"/>
              </a:spcAft>
              <a:buClr>
                <a:srgbClr val="F4271E"/>
              </a:buClr>
              <a:buSzPts val="1800"/>
              <a:buFont typeface="Playfair Display"/>
              <a:buChar char="●"/>
            </a:pPr>
            <a:r>
              <a:rPr lang="en">
                <a:solidFill>
                  <a:srgbClr val="F4271E"/>
                </a:solidFill>
                <a:latin typeface="Playfair Display"/>
                <a:ea typeface="Playfair Display"/>
                <a:cs typeface="Playfair Display"/>
                <a:sym typeface="Playfair Display"/>
              </a:rPr>
              <a:t>Each paint type will grant a different type of effect</a:t>
            </a:r>
            <a:endParaRPr>
              <a:solidFill>
                <a:srgbClr val="F4271E"/>
              </a:solidFill>
              <a:latin typeface="Playfair Display"/>
              <a:ea typeface="Playfair Display"/>
              <a:cs typeface="Playfair Display"/>
              <a:sym typeface="Playfair Display"/>
            </a:endParaRPr>
          </a:p>
          <a:p>
            <a:pPr indent="-317500" lvl="1" marL="914400" rtl="0" algn="l">
              <a:lnSpc>
                <a:spcPct val="150000"/>
              </a:lnSpc>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Ex. red - speed, orange - bounce, green - sticky</a:t>
            </a:r>
            <a:endParaRPr>
              <a:solidFill>
                <a:srgbClr val="F4271E"/>
              </a:solidFill>
              <a:latin typeface="Playfair Display"/>
              <a:ea typeface="Playfair Display"/>
              <a:cs typeface="Playfair Display"/>
              <a:sym typeface="Playfair Display"/>
            </a:endParaRPr>
          </a:p>
          <a:p>
            <a:pPr indent="-342900" lvl="0" marL="457200" rtl="0" algn="l">
              <a:lnSpc>
                <a:spcPct val="150000"/>
              </a:lnSpc>
              <a:spcBef>
                <a:spcPts val="0"/>
              </a:spcBef>
              <a:spcAft>
                <a:spcPts val="0"/>
              </a:spcAft>
              <a:buClr>
                <a:srgbClr val="F4271E"/>
              </a:buClr>
              <a:buSzPts val="1800"/>
              <a:buFont typeface="Playfair Display"/>
              <a:buChar char="●"/>
            </a:pPr>
            <a:r>
              <a:rPr lang="en">
                <a:solidFill>
                  <a:srgbClr val="F4271E"/>
                </a:solidFill>
                <a:latin typeface="Playfair Display"/>
                <a:ea typeface="Playfair Display"/>
                <a:cs typeface="Playfair Display"/>
                <a:sym typeface="Playfair Display"/>
              </a:rPr>
              <a:t>The player will progress through levels with the first one being basic without paints and the player will be introduced to new paints for levels 2-4.</a:t>
            </a:r>
            <a:endParaRPr>
              <a:solidFill>
                <a:srgbClr val="F4271E"/>
              </a:solidFill>
              <a:latin typeface="Playfair Display"/>
              <a:ea typeface="Playfair Display"/>
              <a:cs typeface="Playfair Display"/>
              <a:sym typeface="Playfair Display"/>
            </a:endParaRPr>
          </a:p>
          <a:p>
            <a:pPr indent="-342900" lvl="0" marL="457200" rtl="0" algn="l">
              <a:lnSpc>
                <a:spcPct val="150000"/>
              </a:lnSpc>
              <a:spcBef>
                <a:spcPts val="0"/>
              </a:spcBef>
              <a:spcAft>
                <a:spcPts val="0"/>
              </a:spcAft>
              <a:buClr>
                <a:srgbClr val="F4271E"/>
              </a:buClr>
              <a:buSzPts val="1800"/>
              <a:buFont typeface="Playfair Display"/>
              <a:buChar char="●"/>
            </a:pPr>
            <a:r>
              <a:rPr lang="en">
                <a:solidFill>
                  <a:srgbClr val="F4271E"/>
                </a:solidFill>
                <a:latin typeface="Playfair Display"/>
                <a:ea typeface="Playfair Display"/>
                <a:cs typeface="Playfair Display"/>
                <a:sym typeface="Playfair Display"/>
              </a:rPr>
              <a:t>The levels will get more challenging involving the use of multiple or all the different paints to get through.</a:t>
            </a:r>
            <a:endParaRPr>
              <a:solidFill>
                <a:srgbClr val="F4271E"/>
              </a:solidFill>
              <a:latin typeface="Playfair Display"/>
              <a:ea typeface="Playfair Display"/>
              <a:cs typeface="Playfair Display"/>
              <a:sym typeface="Playfair Display"/>
            </a:endParaRPr>
          </a:p>
        </p:txBody>
      </p:sp>
      <p:sp>
        <p:nvSpPr>
          <p:cNvPr id="99" name="Google Shape;99;p14"/>
          <p:cNvSpPr/>
          <p:nvPr/>
        </p:nvSpPr>
        <p:spPr>
          <a:xfrm>
            <a:off x="8309373" y="28565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 name="Google Shape;100;p14"/>
          <p:cNvSpPr/>
          <p:nvPr/>
        </p:nvSpPr>
        <p:spPr>
          <a:xfrm>
            <a:off x="8423375" y="447360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 name="Google Shape;101;p14"/>
          <p:cNvSpPr/>
          <p:nvPr/>
        </p:nvSpPr>
        <p:spPr>
          <a:xfrm>
            <a:off x="264623" y="4311425"/>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2" name="Google Shape;102;p14"/>
          <p:cNvSpPr/>
          <p:nvPr/>
        </p:nvSpPr>
        <p:spPr>
          <a:xfrm>
            <a:off x="321625" y="23908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mc:AlternateContent>
    <mc:Choice Requires="p14">
      <p:transition spd="slow" p14:dur="700">
        <p:pu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 name="Google Shape;108;p15"/>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 name="Google Shape;109;p15"/>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 name="Google Shape;110;p15"/>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1" name="Google Shape;111;p15"/>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 name="Google Shape;112;p15"/>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7F6530"/>
                </a:solidFill>
              </a:rPr>
              <a:t>The Developers</a:t>
            </a:r>
            <a:endParaRPr u="sng">
              <a:solidFill>
                <a:srgbClr val="7F6530"/>
              </a:solidFill>
            </a:endParaRPr>
          </a:p>
        </p:txBody>
      </p:sp>
      <p:sp>
        <p:nvSpPr>
          <p:cNvPr id="113" name="Google Shape;113;p15"/>
          <p:cNvSpPr/>
          <p:nvPr/>
        </p:nvSpPr>
        <p:spPr>
          <a:xfrm>
            <a:off x="652725" y="3202450"/>
            <a:ext cx="2481000" cy="1065300"/>
          </a:xfrm>
          <a:prstGeom prst="rect">
            <a:avLst/>
          </a:prstGeom>
          <a:solidFill>
            <a:srgbClr val="EBD2AF"/>
          </a:solidFill>
          <a:ln cap="flat" cmpd="sng" w="2857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4" name="Google Shape;114;p15"/>
          <p:cNvSpPr/>
          <p:nvPr/>
        </p:nvSpPr>
        <p:spPr>
          <a:xfrm>
            <a:off x="1038000" y="1375763"/>
            <a:ext cx="1677000" cy="1652700"/>
          </a:xfrm>
          <a:prstGeom prst="ellipse">
            <a:avLst/>
          </a:prstGeom>
          <a:solidFill>
            <a:srgbClr val="BFA47E"/>
          </a:solidFill>
          <a:ln cap="flat" cmpd="sng" w="38100">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5" name="Google Shape;115;p15"/>
          <p:cNvSpPr txBox="1"/>
          <p:nvPr/>
        </p:nvSpPr>
        <p:spPr>
          <a:xfrm>
            <a:off x="652625" y="3166731"/>
            <a:ext cx="2481000" cy="106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800" u="sng">
                <a:solidFill>
                  <a:srgbClr val="F4271E"/>
                </a:solidFill>
                <a:latin typeface="Playfair Display"/>
                <a:ea typeface="Playfair Display"/>
                <a:cs typeface="Playfair Display"/>
                <a:sym typeface="Playfair Display"/>
              </a:rPr>
              <a:t>Liam Bragg</a:t>
            </a:r>
            <a:endParaRPr sz="1800" u="sng">
              <a:solidFill>
                <a:srgbClr val="F4271E"/>
              </a:solidFill>
              <a:latin typeface="Playfair Display"/>
              <a:ea typeface="Playfair Display"/>
              <a:cs typeface="Playfair Display"/>
              <a:sym typeface="Playfair Display"/>
            </a:endParaRPr>
          </a:p>
          <a:p>
            <a:pPr indent="0" lvl="0" marL="0" rtl="0" algn="ctr">
              <a:spcBef>
                <a:spcPts val="1200"/>
              </a:spcBef>
              <a:spcAft>
                <a:spcPts val="1200"/>
              </a:spcAft>
              <a:buNone/>
            </a:pPr>
            <a:r>
              <a:rPr lang="en" sz="1500" u="sng">
                <a:solidFill>
                  <a:srgbClr val="F4271E"/>
                </a:solidFill>
                <a:latin typeface="Playfair Display"/>
                <a:ea typeface="Playfair Display"/>
                <a:cs typeface="Playfair Display"/>
                <a:sym typeface="Playfair Display"/>
              </a:rPr>
              <a:t>Role:</a:t>
            </a:r>
            <a:r>
              <a:rPr lang="en" sz="1500">
                <a:solidFill>
                  <a:srgbClr val="F4271E"/>
                </a:solidFill>
                <a:latin typeface="Playfair Display"/>
                <a:ea typeface="Playfair Display"/>
                <a:cs typeface="Playfair Display"/>
                <a:sym typeface="Playfair Display"/>
              </a:rPr>
              <a:t> Lead Developer</a:t>
            </a:r>
            <a:r>
              <a:rPr lang="en" sz="1500">
                <a:solidFill>
                  <a:srgbClr val="F4271E"/>
                </a:solidFill>
                <a:latin typeface="Playfair Display"/>
                <a:ea typeface="Playfair Display"/>
                <a:cs typeface="Playfair Display"/>
                <a:sym typeface="Playfair Display"/>
              </a:rPr>
              <a:t> &amp;</a:t>
            </a:r>
            <a:r>
              <a:rPr lang="en" sz="1500">
                <a:solidFill>
                  <a:srgbClr val="F4271E"/>
                </a:solidFill>
                <a:latin typeface="Playfair Display"/>
                <a:ea typeface="Playfair Display"/>
                <a:cs typeface="Playfair Display"/>
                <a:sym typeface="Playfair Display"/>
              </a:rPr>
              <a:t> Programmer</a:t>
            </a:r>
            <a:endParaRPr sz="1500">
              <a:solidFill>
                <a:srgbClr val="F4271E"/>
              </a:solidFill>
              <a:latin typeface="Playfair Display"/>
              <a:ea typeface="Playfair Display"/>
              <a:cs typeface="Playfair Display"/>
              <a:sym typeface="Playfair Display"/>
            </a:endParaRPr>
          </a:p>
        </p:txBody>
      </p:sp>
      <p:pic>
        <p:nvPicPr>
          <p:cNvPr id="116" name="Google Shape;116;p15"/>
          <p:cNvPicPr preferRelativeResize="0"/>
          <p:nvPr/>
        </p:nvPicPr>
        <p:blipFill>
          <a:blip r:embed="rId3">
            <a:alphaModFix/>
          </a:blip>
          <a:stretch>
            <a:fillRect/>
          </a:stretch>
        </p:blipFill>
        <p:spPr>
          <a:xfrm>
            <a:off x="1107838" y="1433613"/>
            <a:ext cx="1531800" cy="1531800"/>
          </a:xfrm>
          <a:prstGeom prst="ellipse">
            <a:avLst/>
          </a:prstGeom>
          <a:noFill/>
          <a:ln>
            <a:noFill/>
          </a:ln>
        </p:spPr>
      </p:pic>
      <p:sp>
        <p:nvSpPr>
          <p:cNvPr id="117" name="Google Shape;117;p15"/>
          <p:cNvSpPr/>
          <p:nvPr/>
        </p:nvSpPr>
        <p:spPr>
          <a:xfrm>
            <a:off x="3366452" y="3203573"/>
            <a:ext cx="2481000" cy="1065300"/>
          </a:xfrm>
          <a:prstGeom prst="rect">
            <a:avLst/>
          </a:prstGeom>
          <a:solidFill>
            <a:srgbClr val="EBD2AF"/>
          </a:solidFill>
          <a:ln cap="flat" cmpd="sng" w="2857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15"/>
          <p:cNvSpPr/>
          <p:nvPr/>
        </p:nvSpPr>
        <p:spPr>
          <a:xfrm>
            <a:off x="3737381" y="1375763"/>
            <a:ext cx="1677000" cy="1652700"/>
          </a:xfrm>
          <a:prstGeom prst="ellipse">
            <a:avLst/>
          </a:prstGeom>
          <a:solidFill>
            <a:srgbClr val="BFA47E"/>
          </a:solidFill>
          <a:ln cap="flat" cmpd="sng" w="38100">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15"/>
          <p:cNvSpPr txBox="1"/>
          <p:nvPr/>
        </p:nvSpPr>
        <p:spPr>
          <a:xfrm>
            <a:off x="3366352" y="3155948"/>
            <a:ext cx="2481000" cy="106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800" u="sng">
                <a:solidFill>
                  <a:srgbClr val="F57123"/>
                </a:solidFill>
                <a:latin typeface="Playfair Display"/>
                <a:ea typeface="Playfair Display"/>
                <a:cs typeface="Playfair Display"/>
                <a:sym typeface="Playfair Display"/>
              </a:rPr>
              <a:t>Ethan Todd</a:t>
            </a:r>
            <a:endParaRPr sz="1800" u="sng">
              <a:solidFill>
                <a:srgbClr val="F57123"/>
              </a:solidFill>
              <a:latin typeface="Playfair Display"/>
              <a:ea typeface="Playfair Display"/>
              <a:cs typeface="Playfair Display"/>
              <a:sym typeface="Playfair Display"/>
            </a:endParaRPr>
          </a:p>
          <a:p>
            <a:pPr indent="0" lvl="0" marL="0" rtl="0" algn="ctr">
              <a:lnSpc>
                <a:spcPct val="115000"/>
              </a:lnSpc>
              <a:spcBef>
                <a:spcPts val="1200"/>
              </a:spcBef>
              <a:spcAft>
                <a:spcPts val="1200"/>
              </a:spcAft>
              <a:buNone/>
            </a:pPr>
            <a:r>
              <a:rPr lang="en" sz="1500" u="sng">
                <a:solidFill>
                  <a:srgbClr val="F57123"/>
                </a:solidFill>
                <a:latin typeface="Playfair Display"/>
                <a:ea typeface="Playfair Display"/>
                <a:cs typeface="Playfair Display"/>
                <a:sym typeface="Playfair Display"/>
              </a:rPr>
              <a:t>Role:</a:t>
            </a:r>
            <a:r>
              <a:rPr lang="en" sz="1500">
                <a:solidFill>
                  <a:srgbClr val="F57123"/>
                </a:solidFill>
                <a:latin typeface="Playfair Display"/>
                <a:ea typeface="Playfair Display"/>
                <a:cs typeface="Playfair Display"/>
                <a:sym typeface="Playfair Display"/>
              </a:rPr>
              <a:t> Level-Creator, Artist, &amp; Programmer</a:t>
            </a:r>
            <a:endParaRPr sz="1500">
              <a:solidFill>
                <a:srgbClr val="F57123"/>
              </a:solidFill>
              <a:latin typeface="Playfair Display"/>
              <a:ea typeface="Playfair Display"/>
              <a:cs typeface="Playfair Display"/>
              <a:sym typeface="Playfair Display"/>
            </a:endParaRPr>
          </a:p>
        </p:txBody>
      </p:sp>
      <p:pic>
        <p:nvPicPr>
          <p:cNvPr id="120" name="Google Shape;120;p15"/>
          <p:cNvPicPr preferRelativeResize="0"/>
          <p:nvPr/>
        </p:nvPicPr>
        <p:blipFill>
          <a:blip r:embed="rId4">
            <a:alphaModFix/>
          </a:blip>
          <a:stretch>
            <a:fillRect/>
          </a:stretch>
        </p:blipFill>
        <p:spPr>
          <a:xfrm>
            <a:off x="3815987" y="1436375"/>
            <a:ext cx="1531800" cy="1531800"/>
          </a:xfrm>
          <a:prstGeom prst="ellipse">
            <a:avLst/>
          </a:prstGeom>
          <a:noFill/>
          <a:ln>
            <a:noFill/>
          </a:ln>
        </p:spPr>
      </p:pic>
      <p:sp>
        <p:nvSpPr>
          <p:cNvPr id="121" name="Google Shape;121;p15"/>
          <p:cNvSpPr/>
          <p:nvPr/>
        </p:nvSpPr>
        <p:spPr>
          <a:xfrm>
            <a:off x="6086446" y="3205101"/>
            <a:ext cx="2481000" cy="1065300"/>
          </a:xfrm>
          <a:prstGeom prst="rect">
            <a:avLst/>
          </a:prstGeom>
          <a:solidFill>
            <a:srgbClr val="EBD2AF"/>
          </a:solidFill>
          <a:ln cap="flat" cmpd="sng" w="2857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 name="Google Shape;122;p15"/>
          <p:cNvSpPr/>
          <p:nvPr/>
        </p:nvSpPr>
        <p:spPr>
          <a:xfrm>
            <a:off x="6436762" y="1354000"/>
            <a:ext cx="1677000" cy="1652700"/>
          </a:xfrm>
          <a:prstGeom prst="ellipse">
            <a:avLst/>
          </a:prstGeom>
          <a:solidFill>
            <a:srgbClr val="BFA47E"/>
          </a:solidFill>
          <a:ln cap="flat" cmpd="sng" w="38100">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 name="Google Shape;123;p15"/>
          <p:cNvSpPr txBox="1"/>
          <p:nvPr/>
        </p:nvSpPr>
        <p:spPr>
          <a:xfrm>
            <a:off x="6086346" y="3205101"/>
            <a:ext cx="2481000" cy="106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u="sng">
                <a:solidFill>
                  <a:srgbClr val="6AA84F"/>
                </a:solidFill>
                <a:latin typeface="Playfair Display"/>
                <a:ea typeface="Playfair Display"/>
                <a:cs typeface="Playfair Display"/>
                <a:sym typeface="Playfair Display"/>
              </a:rPr>
              <a:t>Madeline Rosshirt</a:t>
            </a:r>
            <a:endParaRPr sz="1700" u="sng">
              <a:solidFill>
                <a:srgbClr val="6AA84F"/>
              </a:solidFill>
              <a:latin typeface="Playfair Display"/>
              <a:ea typeface="Playfair Display"/>
              <a:cs typeface="Playfair Display"/>
              <a:sym typeface="Playfair Display"/>
            </a:endParaRPr>
          </a:p>
          <a:p>
            <a:pPr indent="0" lvl="0" marL="0" rtl="0" algn="ctr">
              <a:lnSpc>
                <a:spcPct val="115000"/>
              </a:lnSpc>
              <a:spcBef>
                <a:spcPts val="1200"/>
              </a:spcBef>
              <a:spcAft>
                <a:spcPts val="1200"/>
              </a:spcAft>
              <a:buNone/>
            </a:pPr>
            <a:r>
              <a:rPr lang="en" u="sng">
                <a:solidFill>
                  <a:srgbClr val="6AA84F"/>
                </a:solidFill>
                <a:latin typeface="Playfair Display"/>
                <a:ea typeface="Playfair Display"/>
                <a:cs typeface="Playfair Display"/>
                <a:sym typeface="Playfair Display"/>
              </a:rPr>
              <a:t>Role:</a:t>
            </a:r>
            <a:r>
              <a:rPr lang="en">
                <a:solidFill>
                  <a:srgbClr val="6AA84F"/>
                </a:solidFill>
                <a:latin typeface="Playfair Display"/>
                <a:ea typeface="Playfair Display"/>
                <a:cs typeface="Playfair Display"/>
                <a:sym typeface="Playfair Display"/>
              </a:rPr>
              <a:t> Programmer, Concept Artist, Level-Creator</a:t>
            </a:r>
            <a:endParaRPr>
              <a:solidFill>
                <a:srgbClr val="6AA84F"/>
              </a:solidFill>
              <a:latin typeface="Playfair Display"/>
              <a:ea typeface="Playfair Display"/>
              <a:cs typeface="Playfair Display"/>
              <a:sym typeface="Playfair Display"/>
            </a:endParaRPr>
          </a:p>
        </p:txBody>
      </p:sp>
      <p:pic>
        <p:nvPicPr>
          <p:cNvPr id="124" name="Google Shape;124;p15"/>
          <p:cNvPicPr preferRelativeResize="0"/>
          <p:nvPr/>
        </p:nvPicPr>
        <p:blipFill>
          <a:blip r:embed="rId5">
            <a:alphaModFix/>
          </a:blip>
          <a:stretch>
            <a:fillRect/>
          </a:stretch>
        </p:blipFill>
        <p:spPr>
          <a:xfrm>
            <a:off x="6513252" y="1414623"/>
            <a:ext cx="1531800" cy="1531800"/>
          </a:xfrm>
          <a:prstGeom prst="ellipse">
            <a:avLst/>
          </a:prstGeom>
          <a:noFill/>
          <a:ln>
            <a:noFill/>
          </a:ln>
        </p:spPr>
      </p:pic>
      <p:sp>
        <p:nvSpPr>
          <p:cNvPr id="125" name="Google Shape;125;p15"/>
          <p:cNvSpPr/>
          <p:nvPr/>
        </p:nvSpPr>
        <p:spPr>
          <a:xfrm>
            <a:off x="545900" y="287075"/>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 name="Google Shape;126;p15"/>
          <p:cNvSpPr/>
          <p:nvPr/>
        </p:nvSpPr>
        <p:spPr>
          <a:xfrm>
            <a:off x="545898" y="4320425"/>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7" name="Google Shape;127;p15"/>
          <p:cNvSpPr/>
          <p:nvPr/>
        </p:nvSpPr>
        <p:spPr>
          <a:xfrm>
            <a:off x="8357475" y="287075"/>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8" name="Google Shape;128;p15"/>
          <p:cNvSpPr/>
          <p:nvPr/>
        </p:nvSpPr>
        <p:spPr>
          <a:xfrm>
            <a:off x="8295100" y="4420913"/>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 name="Google Shape;134;p16"/>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5" name="Google Shape;135;p16"/>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6" name="Google Shape;136;p16"/>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 name="Google Shape;137;p16"/>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 name="Google Shape;138;p16"/>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6AA84F"/>
                </a:solidFill>
              </a:rPr>
              <a:t>Technologies/Languages Used</a:t>
            </a:r>
            <a:endParaRPr u="sng">
              <a:solidFill>
                <a:srgbClr val="6AA84F"/>
              </a:solidFill>
            </a:endParaRPr>
          </a:p>
        </p:txBody>
      </p:sp>
      <p:sp>
        <p:nvSpPr>
          <p:cNvPr id="139" name="Google Shape;139;p16"/>
          <p:cNvSpPr/>
          <p:nvPr/>
        </p:nvSpPr>
        <p:spPr>
          <a:xfrm>
            <a:off x="83530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 name="Google Shape;140;p16"/>
          <p:cNvSpPr/>
          <p:nvPr/>
        </p:nvSpPr>
        <p:spPr>
          <a:xfrm>
            <a:off x="320250" y="43771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 name="Google Shape;141;p16"/>
          <p:cNvSpPr/>
          <p:nvPr/>
        </p:nvSpPr>
        <p:spPr>
          <a:xfrm>
            <a:off x="263248" y="239100"/>
            <a:ext cx="527400" cy="531300"/>
          </a:xfrm>
          <a:prstGeom prst="mathPlus">
            <a:avLst>
              <a:gd fmla="val 23520" name="adj1"/>
            </a:avLst>
          </a:prstGeom>
          <a:solidFill>
            <a:srgbClr val="F4271E"/>
          </a:solidFill>
          <a:ln cap="flat" cmpd="sng" w="9525">
            <a:solidFill>
              <a:srgbClr val="F427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 name="Google Shape;142;p16"/>
          <p:cNvSpPr/>
          <p:nvPr/>
        </p:nvSpPr>
        <p:spPr>
          <a:xfrm>
            <a:off x="8410050" y="441218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43" name="Google Shape;143;p16"/>
          <p:cNvPicPr preferRelativeResize="0"/>
          <p:nvPr/>
        </p:nvPicPr>
        <p:blipFill>
          <a:blip r:embed="rId3">
            <a:alphaModFix/>
          </a:blip>
          <a:stretch>
            <a:fillRect/>
          </a:stretch>
        </p:blipFill>
        <p:spPr>
          <a:xfrm>
            <a:off x="320250" y="906273"/>
            <a:ext cx="2936422" cy="1651743"/>
          </a:xfrm>
          <a:prstGeom prst="rect">
            <a:avLst/>
          </a:prstGeom>
          <a:noFill/>
          <a:ln>
            <a:noFill/>
          </a:ln>
        </p:spPr>
      </p:pic>
      <p:pic>
        <p:nvPicPr>
          <p:cNvPr id="144" name="Google Shape;144;p16"/>
          <p:cNvPicPr preferRelativeResize="0"/>
          <p:nvPr/>
        </p:nvPicPr>
        <p:blipFill>
          <a:blip r:embed="rId4">
            <a:alphaModFix/>
          </a:blip>
          <a:stretch>
            <a:fillRect/>
          </a:stretch>
        </p:blipFill>
        <p:spPr>
          <a:xfrm>
            <a:off x="6853184" y="1014001"/>
            <a:ext cx="1574684" cy="1574684"/>
          </a:xfrm>
          <a:prstGeom prst="rect">
            <a:avLst/>
          </a:prstGeom>
          <a:noFill/>
          <a:ln>
            <a:noFill/>
          </a:ln>
        </p:spPr>
      </p:pic>
      <p:pic>
        <p:nvPicPr>
          <p:cNvPr id="145" name="Google Shape;145;p16"/>
          <p:cNvPicPr preferRelativeResize="0"/>
          <p:nvPr/>
        </p:nvPicPr>
        <p:blipFill>
          <a:blip r:embed="rId5">
            <a:alphaModFix/>
          </a:blip>
          <a:stretch>
            <a:fillRect/>
          </a:stretch>
        </p:blipFill>
        <p:spPr>
          <a:xfrm>
            <a:off x="790643" y="2571743"/>
            <a:ext cx="1362674" cy="1533011"/>
          </a:xfrm>
          <a:prstGeom prst="rect">
            <a:avLst/>
          </a:prstGeom>
          <a:noFill/>
          <a:ln>
            <a:noFill/>
          </a:ln>
        </p:spPr>
      </p:pic>
      <p:pic>
        <p:nvPicPr>
          <p:cNvPr id="146" name="Google Shape;146;p16"/>
          <p:cNvPicPr preferRelativeResize="0"/>
          <p:nvPr/>
        </p:nvPicPr>
        <p:blipFill>
          <a:blip r:embed="rId6">
            <a:alphaModFix/>
          </a:blip>
          <a:stretch>
            <a:fillRect/>
          </a:stretch>
        </p:blipFill>
        <p:spPr>
          <a:xfrm>
            <a:off x="6933023" y="3010232"/>
            <a:ext cx="1322046" cy="1302073"/>
          </a:xfrm>
          <a:prstGeom prst="rect">
            <a:avLst/>
          </a:prstGeom>
          <a:noFill/>
          <a:ln>
            <a:noFill/>
          </a:ln>
        </p:spPr>
      </p:pic>
      <p:pic>
        <p:nvPicPr>
          <p:cNvPr id="147" name="Google Shape;147;p16"/>
          <p:cNvPicPr preferRelativeResize="0"/>
          <p:nvPr/>
        </p:nvPicPr>
        <p:blipFill rotWithShape="1">
          <a:blip r:embed="rId7">
            <a:alphaModFix/>
          </a:blip>
          <a:srcRect b="22665" l="0" r="0" t="59898"/>
          <a:stretch/>
        </p:blipFill>
        <p:spPr>
          <a:xfrm>
            <a:off x="4370984" y="4360267"/>
            <a:ext cx="2106507" cy="367319"/>
          </a:xfrm>
          <a:prstGeom prst="rect">
            <a:avLst/>
          </a:prstGeom>
          <a:noFill/>
          <a:ln>
            <a:noFill/>
          </a:ln>
        </p:spPr>
      </p:pic>
      <p:pic>
        <p:nvPicPr>
          <p:cNvPr id="148" name="Google Shape;148;p16"/>
          <p:cNvPicPr preferRelativeResize="0"/>
          <p:nvPr/>
        </p:nvPicPr>
        <p:blipFill rotWithShape="1">
          <a:blip r:embed="rId7">
            <a:alphaModFix/>
          </a:blip>
          <a:srcRect b="39300" l="28651" r="27080" t="22717"/>
          <a:stretch/>
        </p:blipFill>
        <p:spPr>
          <a:xfrm>
            <a:off x="4914722" y="3543061"/>
            <a:ext cx="1063123" cy="912170"/>
          </a:xfrm>
          <a:prstGeom prst="rect">
            <a:avLst/>
          </a:prstGeom>
          <a:noFill/>
          <a:ln>
            <a:noFill/>
          </a:ln>
        </p:spPr>
      </p:pic>
      <p:pic>
        <p:nvPicPr>
          <p:cNvPr id="149" name="Google Shape;149;p16"/>
          <p:cNvPicPr preferRelativeResize="0"/>
          <p:nvPr/>
        </p:nvPicPr>
        <p:blipFill>
          <a:blip r:embed="rId8">
            <a:alphaModFix/>
          </a:blip>
          <a:stretch>
            <a:fillRect/>
          </a:stretch>
        </p:blipFill>
        <p:spPr>
          <a:xfrm>
            <a:off x="3672601" y="1169700"/>
            <a:ext cx="952776" cy="952776"/>
          </a:xfrm>
          <a:prstGeom prst="rect">
            <a:avLst/>
          </a:prstGeom>
          <a:noFill/>
          <a:ln>
            <a:noFill/>
          </a:ln>
        </p:spPr>
      </p:pic>
      <p:pic>
        <p:nvPicPr>
          <p:cNvPr id="150" name="Google Shape;150;p16"/>
          <p:cNvPicPr preferRelativeResize="0"/>
          <p:nvPr/>
        </p:nvPicPr>
        <p:blipFill rotWithShape="1">
          <a:blip r:embed="rId9">
            <a:alphaModFix/>
          </a:blip>
          <a:srcRect b="28091" l="27594" r="0" t="27782"/>
          <a:stretch/>
        </p:blipFill>
        <p:spPr>
          <a:xfrm>
            <a:off x="4677827" y="1401591"/>
            <a:ext cx="1426376" cy="488989"/>
          </a:xfrm>
          <a:prstGeom prst="rect">
            <a:avLst/>
          </a:prstGeom>
          <a:noFill/>
          <a:ln>
            <a:noFill/>
          </a:ln>
        </p:spPr>
      </p:pic>
      <p:pic>
        <p:nvPicPr>
          <p:cNvPr id="151" name="Google Shape;151;p16"/>
          <p:cNvPicPr preferRelativeResize="0"/>
          <p:nvPr/>
        </p:nvPicPr>
        <p:blipFill>
          <a:blip r:embed="rId10">
            <a:alphaModFix/>
          </a:blip>
          <a:stretch>
            <a:fillRect/>
          </a:stretch>
        </p:blipFill>
        <p:spPr>
          <a:xfrm>
            <a:off x="2483113" y="2557475"/>
            <a:ext cx="2431601" cy="1367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7" name="Google Shape;157;p17"/>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8" name="Google Shape;158;p17"/>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9" name="Google Shape;159;p17"/>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0" name="Google Shape;160;p17"/>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1" name="Google Shape;161;p17"/>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57123"/>
                </a:solidFill>
              </a:rPr>
              <a:t>Current Progress - Scripts</a:t>
            </a:r>
            <a:endParaRPr u="sng">
              <a:solidFill>
                <a:srgbClr val="F57123"/>
              </a:solidFill>
            </a:endParaRPr>
          </a:p>
        </p:txBody>
      </p:sp>
      <p:sp>
        <p:nvSpPr>
          <p:cNvPr id="162" name="Google Shape;162;p17"/>
          <p:cNvSpPr txBox="1"/>
          <p:nvPr>
            <p:ph idx="1" type="body"/>
          </p:nvPr>
        </p:nvSpPr>
        <p:spPr>
          <a:xfrm>
            <a:off x="586500" y="1152475"/>
            <a:ext cx="79737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Player movement</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Moving left and right, jumping</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Coyote Time - name inspired by Wile E. Coyote, allows the player to jump for a short period of time even after falling off a platform.</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Jump Buffering - allows for early jump button presses to still be processed and make the player jump</a:t>
            </a:r>
            <a:endParaRPr>
              <a:solidFill>
                <a:srgbClr val="F57123"/>
              </a:solidFill>
              <a:latin typeface="Playfair Display"/>
              <a:ea typeface="Playfair Display"/>
              <a:cs typeface="Playfair Display"/>
              <a:sym typeface="Playfair Display"/>
            </a:endParaRPr>
          </a:p>
          <a:p>
            <a:pPr indent="-325755" lvl="0" marL="4572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Painting</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In progress, each color has different effects. Currently working on making the paints be able to be applied to surfaces. The first paint effect will likely be red, which speeds up the player.</a:t>
            </a:r>
            <a:endParaRPr>
              <a:solidFill>
                <a:srgbClr val="F57123"/>
              </a:solidFill>
              <a:latin typeface="Playfair Display"/>
              <a:ea typeface="Playfair Display"/>
              <a:cs typeface="Playfair Display"/>
              <a:sym typeface="Playfair Display"/>
            </a:endParaRPr>
          </a:p>
          <a:p>
            <a:pPr indent="-325755" lvl="0" marL="4572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Checkpoints</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The player will respawn here after touching it.</a:t>
            </a:r>
            <a:endParaRPr>
              <a:solidFill>
                <a:srgbClr val="F57123"/>
              </a:solidFill>
              <a:latin typeface="Playfair Display"/>
              <a:ea typeface="Playfair Display"/>
              <a:cs typeface="Playfair Display"/>
              <a:sym typeface="Playfair Display"/>
            </a:endParaRPr>
          </a:p>
          <a:p>
            <a:pPr indent="-325755" lvl="0" marL="4572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Respawning</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Moves the player back to the respawn point, whether it is at the start of the level or at a checkpoint.</a:t>
            </a:r>
            <a:endParaRPr>
              <a:solidFill>
                <a:srgbClr val="F57123"/>
              </a:solidFill>
              <a:latin typeface="Playfair Display"/>
              <a:ea typeface="Playfair Display"/>
              <a:cs typeface="Playfair Display"/>
              <a:sym typeface="Playfair Display"/>
            </a:endParaRPr>
          </a:p>
          <a:p>
            <a:pPr indent="-325755" lvl="0" marL="4572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Platforming Tiles</a:t>
            </a:r>
            <a:endParaRPr>
              <a:solidFill>
                <a:srgbClr val="F57123"/>
              </a:solidFill>
              <a:latin typeface="Playfair Display"/>
              <a:ea typeface="Playfair Display"/>
              <a:cs typeface="Playfair Display"/>
              <a:sym typeface="Playfair Display"/>
            </a:endParaRPr>
          </a:p>
          <a:p>
            <a:pPr indent="-304165" lvl="1" marL="914400" rtl="0" algn="l">
              <a:spcBef>
                <a:spcPts val="0"/>
              </a:spcBef>
              <a:spcAft>
                <a:spcPts val="0"/>
              </a:spcAft>
              <a:buClr>
                <a:srgbClr val="F57123"/>
              </a:buClr>
              <a:buSzPct val="100000"/>
              <a:buFont typeface="Playfair Display"/>
              <a:buChar char="○"/>
            </a:pPr>
            <a:r>
              <a:rPr lang="en">
                <a:solidFill>
                  <a:srgbClr val="F57123"/>
                </a:solidFill>
                <a:latin typeface="Playfair Display"/>
                <a:ea typeface="Playfair Display"/>
                <a:cs typeface="Playfair Display"/>
                <a:sym typeface="Playfair Display"/>
              </a:rPr>
              <a:t>These tiles are the default ground platforms that the player uses, and how it looks is randomized every time the level is loaded.</a:t>
            </a:r>
            <a:endParaRPr>
              <a:solidFill>
                <a:srgbClr val="F57123"/>
              </a:solidFill>
              <a:latin typeface="Playfair Display"/>
              <a:ea typeface="Playfair Display"/>
              <a:cs typeface="Playfair Display"/>
              <a:sym typeface="Playfair Display"/>
            </a:endParaRPr>
          </a:p>
        </p:txBody>
      </p:sp>
      <p:sp>
        <p:nvSpPr>
          <p:cNvPr id="163" name="Google Shape;163;p17"/>
          <p:cNvSpPr/>
          <p:nvPr/>
        </p:nvSpPr>
        <p:spPr>
          <a:xfrm>
            <a:off x="8317423" y="43269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17"/>
          <p:cNvSpPr/>
          <p:nvPr/>
        </p:nvSpPr>
        <p:spPr>
          <a:xfrm>
            <a:off x="320250" y="43771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17"/>
          <p:cNvSpPr/>
          <p:nvPr/>
        </p:nvSpPr>
        <p:spPr>
          <a:xfrm>
            <a:off x="2632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17"/>
          <p:cNvSpPr/>
          <p:nvPr/>
        </p:nvSpPr>
        <p:spPr>
          <a:xfrm>
            <a:off x="8374425" y="28933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2" name="Google Shape;172;p18"/>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3" name="Google Shape;173;p18"/>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4" name="Google Shape;174;p18"/>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5" name="Google Shape;175;p18"/>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6" name="Google Shape;176;p18"/>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57123"/>
                </a:solidFill>
              </a:rPr>
              <a:t>Current Progress - Scripts</a:t>
            </a:r>
            <a:endParaRPr u="sng">
              <a:solidFill>
                <a:srgbClr val="F57123"/>
              </a:solidFill>
            </a:endParaRPr>
          </a:p>
        </p:txBody>
      </p:sp>
      <p:sp>
        <p:nvSpPr>
          <p:cNvPr id="177" name="Google Shape;177;p18"/>
          <p:cNvSpPr/>
          <p:nvPr/>
        </p:nvSpPr>
        <p:spPr>
          <a:xfrm>
            <a:off x="8317423" y="43269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8" name="Google Shape;178;p18"/>
          <p:cNvSpPr/>
          <p:nvPr/>
        </p:nvSpPr>
        <p:spPr>
          <a:xfrm>
            <a:off x="320250" y="43771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9" name="Google Shape;179;p18"/>
          <p:cNvSpPr/>
          <p:nvPr/>
        </p:nvSpPr>
        <p:spPr>
          <a:xfrm>
            <a:off x="2632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0" name="Google Shape;180;p18"/>
          <p:cNvSpPr/>
          <p:nvPr/>
        </p:nvSpPr>
        <p:spPr>
          <a:xfrm>
            <a:off x="8374425" y="28933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81" name="Google Shape;181;p18" title="senior-cs-capstone-midterm-script-showcase.mp4">
            <a:hlinkClick r:id="rId3"/>
          </p:cNvPr>
          <p:cNvPicPr preferRelativeResize="0"/>
          <p:nvPr/>
        </p:nvPicPr>
        <p:blipFill>
          <a:blip r:embed="rId4">
            <a:alphaModFix/>
          </a:blip>
          <a:stretch>
            <a:fillRect/>
          </a:stretch>
        </p:blipFill>
        <p:spPr>
          <a:xfrm>
            <a:off x="2285850" y="1017450"/>
            <a:ext cx="4572000" cy="3429000"/>
          </a:xfrm>
          <a:prstGeom prst="rect">
            <a:avLst/>
          </a:prstGeom>
          <a:noFill/>
          <a:ln>
            <a:noFill/>
          </a:ln>
        </p:spPr>
      </p:pic>
      <p:sp>
        <p:nvSpPr>
          <p:cNvPr id="182" name="Google Shape;182;p18"/>
          <p:cNvSpPr txBox="1"/>
          <p:nvPr/>
        </p:nvSpPr>
        <p:spPr>
          <a:xfrm>
            <a:off x="2896500" y="4473000"/>
            <a:ext cx="3350700" cy="23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57123"/>
                </a:solidFill>
                <a:latin typeface="Playfair Display"/>
                <a:ea typeface="Playfair Display"/>
                <a:cs typeface="Playfair Display"/>
                <a:sym typeface="Playfair Display"/>
              </a:rPr>
              <a:t>*There is no sound on the video.</a:t>
            </a:r>
            <a:endParaRPr>
              <a:solidFill>
                <a:srgbClr val="F57123"/>
              </a:solidFill>
              <a:latin typeface="Playfair Display"/>
              <a:ea typeface="Playfair Display"/>
              <a:cs typeface="Playfair Display"/>
              <a:sym typeface="Playfair Dis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8" name="Google Shape;188;p19"/>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9" name="Google Shape;189;p19"/>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0" name="Google Shape;190;p19"/>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19"/>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2" name="Google Shape;192;p19"/>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4271E"/>
                </a:solidFill>
              </a:rPr>
              <a:t>Current Progress - Level-Creation</a:t>
            </a:r>
            <a:endParaRPr u="sng">
              <a:solidFill>
                <a:srgbClr val="F4271E"/>
              </a:solidFill>
            </a:endParaRPr>
          </a:p>
        </p:txBody>
      </p:sp>
      <p:sp>
        <p:nvSpPr>
          <p:cNvPr id="193" name="Google Shape;193;p19"/>
          <p:cNvSpPr txBox="1"/>
          <p:nvPr>
            <p:ph idx="1" type="body"/>
          </p:nvPr>
        </p:nvSpPr>
        <p:spPr>
          <a:xfrm>
            <a:off x="586500" y="1079861"/>
            <a:ext cx="7973700" cy="3850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4271E"/>
              </a:buClr>
              <a:buSzPts val="1800"/>
              <a:buFont typeface="Playfair Display"/>
              <a:buChar char="●"/>
            </a:pPr>
            <a:r>
              <a:rPr lang="en">
                <a:solidFill>
                  <a:srgbClr val="F4271E"/>
                </a:solidFill>
                <a:latin typeface="Playfair Display"/>
                <a:ea typeface="Playfair Display"/>
                <a:cs typeface="Playfair Display"/>
                <a:sym typeface="Playfair Display"/>
              </a:rPr>
              <a:t>Relatively slow  </a:t>
            </a:r>
            <a:endParaRPr>
              <a:solidFill>
                <a:srgbClr val="F4271E"/>
              </a:solidFill>
              <a:latin typeface="Playfair Display"/>
              <a:ea typeface="Playfair Display"/>
              <a:cs typeface="Playfair Display"/>
              <a:sym typeface="Playfair Display"/>
            </a:endParaRPr>
          </a:p>
          <a:p>
            <a:pPr indent="-317500" lvl="1" marL="914400" rtl="0" algn="l">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Only one person has been working on this primarily </a:t>
            </a:r>
            <a:endParaRPr>
              <a:solidFill>
                <a:srgbClr val="F4271E"/>
              </a:solidFill>
              <a:latin typeface="Playfair Display"/>
              <a:ea typeface="Playfair Display"/>
              <a:cs typeface="Playfair Display"/>
              <a:sym typeface="Playfair Display"/>
            </a:endParaRPr>
          </a:p>
          <a:p>
            <a:pPr indent="-317500" lvl="1" marL="914400" rtl="0" algn="l">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Should speed up when more mechanics are done and more focus shifts in this direction  </a:t>
            </a:r>
            <a:endParaRPr>
              <a:solidFill>
                <a:srgbClr val="F4271E"/>
              </a:solidFill>
              <a:latin typeface="Playfair Display"/>
              <a:ea typeface="Playfair Display"/>
              <a:cs typeface="Playfair Display"/>
              <a:sym typeface="Playfair Display"/>
            </a:endParaRPr>
          </a:p>
          <a:p>
            <a:pPr indent="-317500" lvl="1" marL="914400" rtl="0" algn="l">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The more sprites and ideas are finished, the faster it should go </a:t>
            </a:r>
            <a:endParaRPr>
              <a:solidFill>
                <a:srgbClr val="F4271E"/>
              </a:solidFill>
              <a:latin typeface="Playfair Display"/>
              <a:ea typeface="Playfair Display"/>
              <a:cs typeface="Playfair Display"/>
              <a:sym typeface="Playfair Display"/>
            </a:endParaRPr>
          </a:p>
          <a:p>
            <a:pPr indent="-317500" lvl="1" marL="914400" rtl="0" algn="l">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Learning took a little, but it should go faster now that significant time has passed </a:t>
            </a:r>
            <a:endParaRPr>
              <a:solidFill>
                <a:srgbClr val="F4271E"/>
              </a:solidFill>
              <a:latin typeface="Playfair Display"/>
              <a:ea typeface="Playfair Display"/>
              <a:cs typeface="Playfair Display"/>
              <a:sym typeface="Playfair Display"/>
            </a:endParaRPr>
          </a:p>
          <a:p>
            <a:pPr indent="-330200" lvl="0" marL="457200" rtl="0" algn="l">
              <a:spcBef>
                <a:spcPts val="0"/>
              </a:spcBef>
              <a:spcAft>
                <a:spcPts val="0"/>
              </a:spcAft>
              <a:buClr>
                <a:srgbClr val="F4271E"/>
              </a:buClr>
              <a:buSzPts val="1600"/>
              <a:buFont typeface="Playfair Display"/>
              <a:buChar char="●"/>
            </a:pPr>
            <a:r>
              <a:rPr lang="en" sz="1600">
                <a:solidFill>
                  <a:srgbClr val="F4271E"/>
                </a:solidFill>
                <a:latin typeface="Playfair Display"/>
                <a:ea typeface="Playfair Display"/>
                <a:cs typeface="Playfair Display"/>
                <a:sym typeface="Playfair Display"/>
              </a:rPr>
              <a:t>Levels </a:t>
            </a:r>
            <a:endParaRPr sz="1600">
              <a:solidFill>
                <a:srgbClr val="F4271E"/>
              </a:solidFill>
              <a:latin typeface="Playfair Display"/>
              <a:ea typeface="Playfair Display"/>
              <a:cs typeface="Playfair Display"/>
              <a:sym typeface="Playfair Display"/>
            </a:endParaRPr>
          </a:p>
          <a:p>
            <a:pPr indent="-304800" lvl="1" marL="914400" rtl="0" algn="l">
              <a:spcBef>
                <a:spcPts val="0"/>
              </a:spcBef>
              <a:spcAft>
                <a:spcPts val="0"/>
              </a:spcAft>
              <a:buClr>
                <a:srgbClr val="F4271E"/>
              </a:buClr>
              <a:buSzPts val="1200"/>
              <a:buFont typeface="Playfair Display"/>
              <a:buChar char="○"/>
            </a:pPr>
            <a:r>
              <a:rPr lang="en">
                <a:solidFill>
                  <a:srgbClr val="F4271E"/>
                </a:solidFill>
                <a:latin typeface="Playfair Display"/>
                <a:ea typeface="Playfair Display"/>
                <a:cs typeface="Playfair Display"/>
                <a:sym typeface="Playfair Display"/>
              </a:rPr>
              <a:t>Level 1 has been the main focus</a:t>
            </a:r>
            <a:r>
              <a:rPr lang="en" sz="1200">
                <a:solidFill>
                  <a:srgbClr val="F4271E"/>
                </a:solidFill>
                <a:latin typeface="Playfair Display"/>
                <a:ea typeface="Playfair Display"/>
                <a:cs typeface="Playfair Display"/>
                <a:sym typeface="Playfair Display"/>
              </a:rPr>
              <a:t>  </a:t>
            </a:r>
            <a:endParaRPr sz="1200">
              <a:solidFill>
                <a:srgbClr val="F4271E"/>
              </a:solidFill>
              <a:latin typeface="Playfair Display"/>
              <a:ea typeface="Playfair Display"/>
              <a:cs typeface="Playfair Display"/>
              <a:sym typeface="Playfair Display"/>
            </a:endParaRPr>
          </a:p>
          <a:p>
            <a:pPr indent="-304800" lvl="2" marL="1371600" rtl="0" algn="l">
              <a:spcBef>
                <a:spcPts val="0"/>
              </a:spcBef>
              <a:spcAft>
                <a:spcPts val="0"/>
              </a:spcAft>
              <a:buClr>
                <a:srgbClr val="F4271E"/>
              </a:buClr>
              <a:buSzPts val="1200"/>
              <a:buFont typeface="Playfair Display"/>
              <a:buChar char="■"/>
            </a:pPr>
            <a:r>
              <a:rPr lang="en" sz="1200">
                <a:solidFill>
                  <a:srgbClr val="F4271E"/>
                </a:solidFill>
                <a:latin typeface="Playfair Display"/>
                <a:ea typeface="Playfair Display"/>
                <a:cs typeface="Playfair Display"/>
                <a:sym typeface="Playfair Display"/>
              </a:rPr>
              <a:t>Level 1, in a way, is meant to be a movement demonstration/intro to player </a:t>
            </a:r>
            <a:r>
              <a:rPr lang="en" sz="1200">
                <a:solidFill>
                  <a:srgbClr val="F4271E"/>
                </a:solidFill>
                <a:latin typeface="Playfair Display"/>
                <a:ea typeface="Playfair Display"/>
                <a:cs typeface="Playfair Display"/>
                <a:sym typeface="Playfair Display"/>
              </a:rPr>
              <a:t>movement</a:t>
            </a:r>
            <a:r>
              <a:rPr lang="en" sz="1200">
                <a:solidFill>
                  <a:srgbClr val="F4271E"/>
                </a:solidFill>
                <a:latin typeface="Playfair Display"/>
                <a:ea typeface="Playfair Display"/>
                <a:cs typeface="Playfair Display"/>
                <a:sym typeface="Playfair Display"/>
              </a:rPr>
              <a:t> mechanics </a:t>
            </a:r>
            <a:endParaRPr sz="1200">
              <a:solidFill>
                <a:srgbClr val="F4271E"/>
              </a:solidFill>
              <a:latin typeface="Playfair Display"/>
              <a:ea typeface="Playfair Display"/>
              <a:cs typeface="Playfair Display"/>
              <a:sym typeface="Playfair Display"/>
            </a:endParaRPr>
          </a:p>
          <a:p>
            <a:pPr indent="-304800" lvl="2" marL="1371600" rtl="0" algn="l">
              <a:spcBef>
                <a:spcPts val="0"/>
              </a:spcBef>
              <a:spcAft>
                <a:spcPts val="0"/>
              </a:spcAft>
              <a:buClr>
                <a:srgbClr val="F4271E"/>
              </a:buClr>
              <a:buSzPts val="1200"/>
              <a:buFont typeface="Playfair Display"/>
              <a:buChar char="■"/>
            </a:pPr>
            <a:r>
              <a:rPr lang="en" sz="1200">
                <a:solidFill>
                  <a:srgbClr val="F4271E"/>
                </a:solidFill>
                <a:latin typeface="Playfair Display"/>
                <a:ea typeface="Playfair Display"/>
                <a:cs typeface="Playfair Display"/>
                <a:sym typeface="Playfair Display"/>
              </a:rPr>
              <a:t>Focus on movement mechanics in this level makes progress easier</a:t>
            </a:r>
            <a:endParaRPr sz="1200">
              <a:solidFill>
                <a:srgbClr val="F4271E"/>
              </a:solidFill>
              <a:latin typeface="Playfair Display"/>
              <a:ea typeface="Playfair Display"/>
              <a:cs typeface="Playfair Display"/>
              <a:sym typeface="Playfair Display"/>
            </a:endParaRPr>
          </a:p>
          <a:p>
            <a:pPr indent="-317500" lvl="1" marL="914400" rtl="0" algn="l">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Progress on future levels is dependant on more mechanics/ideas </a:t>
            </a:r>
            <a:endParaRPr>
              <a:solidFill>
                <a:srgbClr val="F4271E"/>
              </a:solidFill>
              <a:latin typeface="Playfair Display"/>
              <a:ea typeface="Playfair Display"/>
              <a:cs typeface="Playfair Display"/>
              <a:sym typeface="Playfair Display"/>
            </a:endParaRPr>
          </a:p>
          <a:p>
            <a:pPr indent="-304800" lvl="2" marL="1371600" rtl="0" algn="l">
              <a:spcBef>
                <a:spcPts val="0"/>
              </a:spcBef>
              <a:spcAft>
                <a:spcPts val="0"/>
              </a:spcAft>
              <a:buClr>
                <a:srgbClr val="F4271E"/>
              </a:buClr>
              <a:buSzPts val="1200"/>
              <a:buFont typeface="Playfair Display"/>
              <a:buChar char="■"/>
            </a:pPr>
            <a:r>
              <a:rPr lang="en" sz="1200">
                <a:solidFill>
                  <a:srgbClr val="F4271E"/>
                </a:solidFill>
                <a:latin typeface="Playfair Display"/>
                <a:ea typeface="Playfair Display"/>
                <a:cs typeface="Playfair Display"/>
                <a:sym typeface="Playfair Display"/>
              </a:rPr>
              <a:t>Next level, and onward, should shift the focus more toward more traps &amp; paint </a:t>
            </a:r>
            <a:endParaRPr sz="1200">
              <a:solidFill>
                <a:srgbClr val="F4271E"/>
              </a:solidFill>
              <a:latin typeface="Playfair Display"/>
              <a:ea typeface="Playfair Display"/>
              <a:cs typeface="Playfair Display"/>
              <a:sym typeface="Playfair Display"/>
            </a:endParaRPr>
          </a:p>
          <a:p>
            <a:pPr indent="-317500" lvl="1" marL="914400" rtl="0" algn="l">
              <a:spcBef>
                <a:spcPts val="0"/>
              </a:spcBef>
              <a:spcAft>
                <a:spcPts val="0"/>
              </a:spcAft>
              <a:buClr>
                <a:srgbClr val="F4271E"/>
              </a:buClr>
              <a:buSzPts val="1400"/>
              <a:buFont typeface="Playfair Display"/>
              <a:buChar char="○"/>
            </a:pPr>
            <a:r>
              <a:rPr lang="en">
                <a:solidFill>
                  <a:srgbClr val="F4271E"/>
                </a:solidFill>
                <a:latin typeface="Playfair Display"/>
                <a:ea typeface="Playfair Display"/>
                <a:cs typeface="Playfair Display"/>
                <a:sym typeface="Playfair Display"/>
              </a:rPr>
              <a:t>Final level count is dependant on how quickly our focus will shift entirely on level-creation</a:t>
            </a:r>
            <a:endParaRPr>
              <a:solidFill>
                <a:srgbClr val="F4271E"/>
              </a:solidFill>
              <a:latin typeface="Playfair Display"/>
              <a:ea typeface="Playfair Display"/>
              <a:cs typeface="Playfair Display"/>
              <a:sym typeface="Playfair Display"/>
            </a:endParaRPr>
          </a:p>
        </p:txBody>
      </p:sp>
      <p:sp>
        <p:nvSpPr>
          <p:cNvPr id="194" name="Google Shape;194;p19"/>
          <p:cNvSpPr/>
          <p:nvPr/>
        </p:nvSpPr>
        <p:spPr>
          <a:xfrm>
            <a:off x="8317423" y="4326900"/>
            <a:ext cx="527400" cy="531300"/>
          </a:xfrm>
          <a:prstGeom prst="mathPlus">
            <a:avLst>
              <a:gd fmla="val 23520" name="adj1"/>
            </a:avLst>
          </a:prstGeom>
          <a:solidFill>
            <a:srgbClr val="F4271E"/>
          </a:solidFill>
          <a:ln cap="flat" cmpd="sng" w="9525">
            <a:solidFill>
              <a:srgbClr val="F427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5" name="Google Shape;195;p19"/>
          <p:cNvSpPr/>
          <p:nvPr/>
        </p:nvSpPr>
        <p:spPr>
          <a:xfrm>
            <a:off x="320250" y="43771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6" name="Google Shape;196;p19"/>
          <p:cNvSpPr/>
          <p:nvPr/>
        </p:nvSpPr>
        <p:spPr>
          <a:xfrm>
            <a:off x="2632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7" name="Google Shape;197;p19"/>
          <p:cNvSpPr/>
          <p:nvPr/>
        </p:nvSpPr>
        <p:spPr>
          <a:xfrm>
            <a:off x="8374425" y="289338"/>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3FE2F"/>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20"/>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20"/>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5" name="Google Shape;205;p20"/>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6" name="Google Shape;206;p20"/>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7" name="Google Shape;207;p20"/>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4271E"/>
                </a:solidFill>
              </a:rPr>
              <a:t>Current Progress - Level-Creation</a:t>
            </a:r>
            <a:endParaRPr u="sng">
              <a:solidFill>
                <a:srgbClr val="F4271E"/>
              </a:solidFill>
            </a:endParaRPr>
          </a:p>
        </p:txBody>
      </p:sp>
      <p:sp>
        <p:nvSpPr>
          <p:cNvPr id="208" name="Google Shape;208;p20"/>
          <p:cNvSpPr txBox="1"/>
          <p:nvPr>
            <p:ph idx="1" type="body"/>
          </p:nvPr>
        </p:nvSpPr>
        <p:spPr>
          <a:xfrm>
            <a:off x="586500" y="1079859"/>
            <a:ext cx="7973700" cy="6261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i="1" lang="en">
                <a:solidFill>
                  <a:srgbClr val="F4271E"/>
                </a:solidFill>
                <a:latin typeface="Playfair Display"/>
                <a:ea typeface="Playfair Display"/>
                <a:cs typeface="Playfair Display"/>
                <a:sym typeface="Playfair Display"/>
              </a:rPr>
              <a:t>Screenshot from Level 1: The Starting Room - Made with Unity Engine</a:t>
            </a:r>
            <a:endParaRPr>
              <a:solidFill>
                <a:srgbClr val="F4271E"/>
              </a:solidFill>
              <a:latin typeface="Playfair Display"/>
              <a:ea typeface="Playfair Display"/>
              <a:cs typeface="Playfair Display"/>
              <a:sym typeface="Playfair Display"/>
            </a:endParaRPr>
          </a:p>
        </p:txBody>
      </p:sp>
      <p:sp>
        <p:nvSpPr>
          <p:cNvPr id="209" name="Google Shape;209;p20"/>
          <p:cNvSpPr/>
          <p:nvPr/>
        </p:nvSpPr>
        <p:spPr>
          <a:xfrm>
            <a:off x="8317423" y="4326900"/>
            <a:ext cx="527400" cy="531300"/>
          </a:xfrm>
          <a:prstGeom prst="mathPlus">
            <a:avLst>
              <a:gd fmla="val 23520" name="adj1"/>
            </a:avLst>
          </a:prstGeom>
          <a:solidFill>
            <a:srgbClr val="F4271E"/>
          </a:solidFill>
          <a:ln cap="flat" cmpd="sng" w="9525">
            <a:solidFill>
              <a:srgbClr val="F427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0" name="Google Shape;210;p20"/>
          <p:cNvSpPr/>
          <p:nvPr/>
        </p:nvSpPr>
        <p:spPr>
          <a:xfrm>
            <a:off x="320250" y="43771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1" name="Google Shape;211;p20"/>
          <p:cNvSpPr/>
          <p:nvPr/>
        </p:nvSpPr>
        <p:spPr>
          <a:xfrm>
            <a:off x="2632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2" name="Google Shape;212;p20"/>
          <p:cNvSpPr/>
          <p:nvPr/>
        </p:nvSpPr>
        <p:spPr>
          <a:xfrm>
            <a:off x="8374425" y="289338"/>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3FE2F"/>
              </a:solidFill>
              <a:latin typeface="Lato"/>
              <a:ea typeface="Lato"/>
              <a:cs typeface="Lato"/>
              <a:sym typeface="Lato"/>
            </a:endParaRPr>
          </a:p>
        </p:txBody>
      </p:sp>
      <p:pic>
        <p:nvPicPr>
          <p:cNvPr id="213" name="Google Shape;213;p20"/>
          <p:cNvPicPr preferRelativeResize="0"/>
          <p:nvPr/>
        </p:nvPicPr>
        <p:blipFill>
          <a:blip r:embed="rId3">
            <a:alphaModFix/>
          </a:blip>
          <a:stretch>
            <a:fillRect/>
          </a:stretch>
        </p:blipFill>
        <p:spPr>
          <a:xfrm>
            <a:off x="1062400" y="1594994"/>
            <a:ext cx="7021895" cy="2804475"/>
          </a:xfrm>
          <a:prstGeom prst="rect">
            <a:avLst/>
          </a:prstGeom>
          <a:noFill/>
          <a:ln cap="flat" cmpd="sng" w="28575">
            <a:solidFill>
              <a:srgbClr val="FF0000"/>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9" name="Google Shape;219;p21"/>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0" name="Google Shape;220;p21"/>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1" name="Google Shape;221;p21"/>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2" name="Google Shape;222;p21"/>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3" name="Google Shape;223;p21"/>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6AA84F"/>
                </a:solidFill>
              </a:rPr>
              <a:t>Current Progress - Sprites</a:t>
            </a:r>
            <a:endParaRPr u="sng">
              <a:solidFill>
                <a:srgbClr val="6AA84F"/>
              </a:solidFill>
            </a:endParaRPr>
          </a:p>
        </p:txBody>
      </p:sp>
      <p:sp>
        <p:nvSpPr>
          <p:cNvPr id="224" name="Google Shape;224;p21"/>
          <p:cNvSpPr txBox="1"/>
          <p:nvPr>
            <p:ph idx="1" type="body"/>
          </p:nvPr>
        </p:nvSpPr>
        <p:spPr>
          <a:xfrm>
            <a:off x="525988" y="886223"/>
            <a:ext cx="3985500" cy="3838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6AA84F"/>
              </a:buClr>
              <a:buSzPts val="1600"/>
              <a:buFont typeface="Playfair Display"/>
              <a:buChar char="●"/>
            </a:pPr>
            <a:r>
              <a:rPr lang="en" sz="1600">
                <a:solidFill>
                  <a:srgbClr val="6AA84F"/>
                </a:solidFill>
                <a:latin typeface="Playfair Display"/>
                <a:ea typeface="Playfair Display"/>
                <a:cs typeface="Playfair Display"/>
                <a:sym typeface="Playfair Display"/>
              </a:rPr>
              <a:t>All art is made through “Piskel” </a:t>
            </a:r>
            <a:endParaRPr sz="16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Pixel style makes unique </a:t>
            </a:r>
            <a:r>
              <a:rPr lang="en" sz="1200">
                <a:solidFill>
                  <a:srgbClr val="6AA84F"/>
                </a:solidFill>
                <a:latin typeface="Playfair Display"/>
                <a:ea typeface="Playfair Display"/>
                <a:cs typeface="Playfair Display"/>
                <a:sym typeface="Playfair Display"/>
              </a:rPr>
              <a:t>sprite creation easier </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Images not to scale</a:t>
            </a:r>
            <a:endParaRPr sz="1200">
              <a:solidFill>
                <a:srgbClr val="6AA84F"/>
              </a:solidFill>
              <a:latin typeface="Playfair Display"/>
              <a:ea typeface="Playfair Display"/>
              <a:cs typeface="Playfair Display"/>
              <a:sym typeface="Playfair Display"/>
            </a:endParaRPr>
          </a:p>
          <a:p>
            <a:pPr indent="-330200" lvl="0" marL="457200" rtl="0" algn="l">
              <a:spcBef>
                <a:spcPts val="0"/>
              </a:spcBef>
              <a:spcAft>
                <a:spcPts val="0"/>
              </a:spcAft>
              <a:buClr>
                <a:srgbClr val="6AA84F"/>
              </a:buClr>
              <a:buSzPts val="1600"/>
              <a:buFont typeface="Playfair Display"/>
              <a:buChar char="●"/>
            </a:pPr>
            <a:r>
              <a:rPr lang="en" sz="1600">
                <a:solidFill>
                  <a:srgbClr val="6AA84F"/>
                </a:solidFill>
                <a:latin typeface="Playfair Display"/>
                <a:ea typeface="Playfair Display"/>
                <a:cs typeface="Playfair Display"/>
                <a:sym typeface="Playfair Display"/>
              </a:rPr>
              <a:t>Currently finished:</a:t>
            </a:r>
            <a:endParaRPr sz="16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Tiles - likely finalized (most are done)</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Traps - in progress (some are done)  </a:t>
            </a:r>
            <a:endParaRPr sz="1200">
              <a:solidFill>
                <a:srgbClr val="6AA84F"/>
              </a:solidFill>
              <a:latin typeface="Playfair Display"/>
              <a:ea typeface="Playfair Display"/>
              <a:cs typeface="Playfair Display"/>
              <a:sym typeface="Playfair Display"/>
            </a:endParaRPr>
          </a:p>
          <a:p>
            <a:pPr indent="-330200" lvl="0" marL="457200" rtl="0" algn="l">
              <a:spcBef>
                <a:spcPts val="0"/>
              </a:spcBef>
              <a:spcAft>
                <a:spcPts val="0"/>
              </a:spcAft>
              <a:buClr>
                <a:srgbClr val="6AA84F"/>
              </a:buClr>
              <a:buSzPts val="1600"/>
              <a:buFont typeface="Playfair Display"/>
              <a:buChar char="●"/>
            </a:pPr>
            <a:r>
              <a:rPr lang="en" sz="1600">
                <a:solidFill>
                  <a:srgbClr val="6AA84F"/>
                </a:solidFill>
                <a:latin typeface="Playfair Display"/>
                <a:ea typeface="Playfair Display"/>
                <a:cs typeface="Playfair Display"/>
                <a:sym typeface="Playfair Display"/>
              </a:rPr>
              <a:t>In progress/placeholder: </a:t>
            </a:r>
            <a:endParaRPr sz="16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Player character (medium priority) </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Background tiles (medium to high priority) </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Checkpoint (low priority) </a:t>
            </a:r>
            <a:endParaRPr sz="1200">
              <a:solidFill>
                <a:srgbClr val="6AA84F"/>
              </a:solidFill>
              <a:latin typeface="Playfair Display"/>
              <a:ea typeface="Playfair Display"/>
              <a:cs typeface="Playfair Display"/>
              <a:sym typeface="Playfair Display"/>
            </a:endParaRPr>
          </a:p>
          <a:p>
            <a:pPr indent="-330200" lvl="0" marL="457200" rtl="0" algn="l">
              <a:spcBef>
                <a:spcPts val="0"/>
              </a:spcBef>
              <a:spcAft>
                <a:spcPts val="0"/>
              </a:spcAft>
              <a:buClr>
                <a:srgbClr val="6AA84F"/>
              </a:buClr>
              <a:buSzPts val="1600"/>
              <a:buFont typeface="Playfair Display"/>
              <a:buChar char="●"/>
            </a:pPr>
            <a:r>
              <a:rPr lang="en" sz="1600">
                <a:solidFill>
                  <a:srgbClr val="6AA84F"/>
                </a:solidFill>
                <a:latin typeface="Playfair Display"/>
                <a:ea typeface="Playfair Display"/>
                <a:cs typeface="Playfair Display"/>
                <a:sym typeface="Playfair Display"/>
              </a:rPr>
              <a:t>To be done: </a:t>
            </a:r>
            <a:endParaRPr sz="16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Paint (medium to high priority) </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Paint tools (medium priority) </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UI/Hud (low priority)</a:t>
            </a:r>
            <a:endParaRPr sz="1200">
              <a:solidFill>
                <a:srgbClr val="6AA84F"/>
              </a:solidFill>
              <a:latin typeface="Playfair Display"/>
              <a:ea typeface="Playfair Display"/>
              <a:cs typeface="Playfair Display"/>
              <a:sym typeface="Playfair Display"/>
            </a:endParaRPr>
          </a:p>
          <a:p>
            <a:pPr indent="-304800" lvl="1" marL="914400" rtl="0" algn="l">
              <a:spcBef>
                <a:spcPts val="0"/>
              </a:spcBef>
              <a:spcAft>
                <a:spcPts val="0"/>
              </a:spcAft>
              <a:buClr>
                <a:srgbClr val="6AA84F"/>
              </a:buClr>
              <a:buSzPts val="1200"/>
              <a:buFont typeface="Playfair Display"/>
              <a:buChar char="○"/>
            </a:pPr>
            <a:r>
              <a:rPr lang="en" sz="1200">
                <a:solidFill>
                  <a:srgbClr val="6AA84F"/>
                </a:solidFill>
                <a:latin typeface="Playfair Display"/>
                <a:ea typeface="Playfair Display"/>
                <a:cs typeface="Playfair Display"/>
                <a:sym typeface="Playfair Display"/>
              </a:rPr>
              <a:t>Title screen &amp; pause screen (low priority)</a:t>
            </a:r>
            <a:endParaRPr sz="1200">
              <a:solidFill>
                <a:srgbClr val="6AA84F"/>
              </a:solidFill>
              <a:latin typeface="Playfair Display"/>
              <a:ea typeface="Playfair Display"/>
              <a:cs typeface="Playfair Display"/>
              <a:sym typeface="Playfair Display"/>
            </a:endParaRPr>
          </a:p>
        </p:txBody>
      </p:sp>
      <p:sp>
        <p:nvSpPr>
          <p:cNvPr id="225" name="Google Shape;225;p21"/>
          <p:cNvSpPr/>
          <p:nvPr/>
        </p:nvSpPr>
        <p:spPr>
          <a:xfrm>
            <a:off x="83530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6" name="Google Shape;226;p21"/>
          <p:cNvSpPr/>
          <p:nvPr/>
        </p:nvSpPr>
        <p:spPr>
          <a:xfrm>
            <a:off x="320250" y="43771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21"/>
          <p:cNvSpPr/>
          <p:nvPr/>
        </p:nvSpPr>
        <p:spPr>
          <a:xfrm>
            <a:off x="263248" y="239100"/>
            <a:ext cx="527400" cy="531300"/>
          </a:xfrm>
          <a:prstGeom prst="mathPlus">
            <a:avLst>
              <a:gd fmla="val 23520" name="adj1"/>
            </a:avLst>
          </a:prstGeom>
          <a:solidFill>
            <a:srgbClr val="F4271E"/>
          </a:solidFill>
          <a:ln cap="flat" cmpd="sng" w="9525">
            <a:solidFill>
              <a:srgbClr val="F427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21"/>
          <p:cNvSpPr/>
          <p:nvPr/>
        </p:nvSpPr>
        <p:spPr>
          <a:xfrm>
            <a:off x="8410050" y="441218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29" name="Google Shape;229;p21"/>
          <p:cNvPicPr preferRelativeResize="0"/>
          <p:nvPr/>
        </p:nvPicPr>
        <p:blipFill>
          <a:blip r:embed="rId3">
            <a:alphaModFix/>
          </a:blip>
          <a:stretch>
            <a:fillRect/>
          </a:stretch>
        </p:blipFill>
        <p:spPr>
          <a:xfrm>
            <a:off x="4961800" y="1348182"/>
            <a:ext cx="953812" cy="1047625"/>
          </a:xfrm>
          <a:prstGeom prst="rect">
            <a:avLst/>
          </a:prstGeom>
          <a:noFill/>
          <a:ln cap="flat" cmpd="sng" w="28575">
            <a:solidFill>
              <a:srgbClr val="6AA84F"/>
            </a:solidFill>
            <a:prstDash val="solid"/>
            <a:round/>
            <a:headEnd len="sm" w="sm" type="none"/>
            <a:tailEnd len="sm" w="sm" type="none"/>
          </a:ln>
        </p:spPr>
      </p:pic>
      <p:pic>
        <p:nvPicPr>
          <p:cNvPr id="230" name="Google Shape;230;p21"/>
          <p:cNvPicPr preferRelativeResize="0"/>
          <p:nvPr/>
        </p:nvPicPr>
        <p:blipFill>
          <a:blip r:embed="rId4">
            <a:alphaModFix/>
          </a:blip>
          <a:stretch>
            <a:fillRect/>
          </a:stretch>
        </p:blipFill>
        <p:spPr>
          <a:xfrm>
            <a:off x="7618392" y="1317932"/>
            <a:ext cx="1109824" cy="1108126"/>
          </a:xfrm>
          <a:prstGeom prst="rect">
            <a:avLst/>
          </a:prstGeom>
          <a:noFill/>
          <a:ln cap="flat" cmpd="sng" w="28575">
            <a:solidFill>
              <a:srgbClr val="6AA84F"/>
            </a:solidFill>
            <a:prstDash val="solid"/>
            <a:round/>
            <a:headEnd len="sm" w="sm" type="none"/>
            <a:tailEnd len="sm" w="sm" type="none"/>
          </a:ln>
        </p:spPr>
      </p:pic>
      <p:pic>
        <p:nvPicPr>
          <p:cNvPr id="231" name="Google Shape;231;p21"/>
          <p:cNvPicPr preferRelativeResize="0"/>
          <p:nvPr/>
        </p:nvPicPr>
        <p:blipFill>
          <a:blip r:embed="rId5">
            <a:alphaModFix/>
          </a:blip>
          <a:stretch>
            <a:fillRect/>
          </a:stretch>
        </p:blipFill>
        <p:spPr>
          <a:xfrm>
            <a:off x="5792927" y="2977759"/>
            <a:ext cx="622800" cy="1482850"/>
          </a:xfrm>
          <a:prstGeom prst="rect">
            <a:avLst/>
          </a:prstGeom>
          <a:noFill/>
          <a:ln cap="flat" cmpd="sng" w="28575">
            <a:solidFill>
              <a:srgbClr val="6AA84F"/>
            </a:solidFill>
            <a:prstDash val="solid"/>
            <a:round/>
            <a:headEnd len="sm" w="sm" type="none"/>
            <a:tailEnd len="sm" w="sm" type="none"/>
          </a:ln>
        </p:spPr>
      </p:pic>
      <p:pic>
        <p:nvPicPr>
          <p:cNvPr id="232" name="Google Shape;232;p21"/>
          <p:cNvPicPr preferRelativeResize="0"/>
          <p:nvPr/>
        </p:nvPicPr>
        <p:blipFill>
          <a:blip r:embed="rId6">
            <a:alphaModFix/>
          </a:blip>
          <a:stretch>
            <a:fillRect/>
          </a:stretch>
        </p:blipFill>
        <p:spPr>
          <a:xfrm>
            <a:off x="6946813" y="2925082"/>
            <a:ext cx="953800" cy="1564025"/>
          </a:xfrm>
          <a:prstGeom prst="rect">
            <a:avLst/>
          </a:prstGeom>
          <a:noFill/>
          <a:ln cap="flat" cmpd="sng" w="28575">
            <a:solidFill>
              <a:srgbClr val="6AA84F"/>
            </a:solidFill>
            <a:prstDash val="solid"/>
            <a:round/>
            <a:headEnd len="sm" w="sm" type="none"/>
            <a:tailEnd len="sm" w="sm" type="none"/>
          </a:ln>
        </p:spPr>
      </p:pic>
      <p:pic>
        <p:nvPicPr>
          <p:cNvPr id="233" name="Google Shape;233;p21"/>
          <p:cNvPicPr preferRelativeResize="0"/>
          <p:nvPr/>
        </p:nvPicPr>
        <p:blipFill>
          <a:blip r:embed="rId7">
            <a:alphaModFix/>
          </a:blip>
          <a:stretch>
            <a:fillRect/>
          </a:stretch>
        </p:blipFill>
        <p:spPr>
          <a:xfrm>
            <a:off x="6290100" y="1393408"/>
            <a:ext cx="953799" cy="957162"/>
          </a:xfrm>
          <a:prstGeom prst="rect">
            <a:avLst/>
          </a:prstGeom>
          <a:noFill/>
          <a:ln cap="flat" cmpd="sng" w="28575">
            <a:solidFill>
              <a:srgbClr val="6AA84F"/>
            </a:solidFill>
            <a:prstDash val="solid"/>
            <a:round/>
            <a:headEnd len="sm" w="sm" type="none"/>
            <a:tailEnd len="sm" w="sm" type="none"/>
          </a:ln>
        </p:spPr>
      </p:pic>
      <p:sp>
        <p:nvSpPr>
          <p:cNvPr id="234" name="Google Shape;234;p21"/>
          <p:cNvSpPr txBox="1"/>
          <p:nvPr/>
        </p:nvSpPr>
        <p:spPr>
          <a:xfrm>
            <a:off x="6161900" y="1048676"/>
            <a:ext cx="1210200" cy="5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6AA84F"/>
                </a:solidFill>
                <a:latin typeface="Playfair Display"/>
                <a:ea typeface="Playfair Display"/>
                <a:cs typeface="Playfair Display"/>
                <a:sym typeface="Playfair Display"/>
              </a:rPr>
              <a:t>Grey Tile</a:t>
            </a:r>
            <a:endParaRPr i="1" sz="1200">
              <a:solidFill>
                <a:srgbClr val="6AA84F"/>
              </a:solidFill>
              <a:latin typeface="Playfair Display"/>
              <a:ea typeface="Playfair Display"/>
              <a:cs typeface="Playfair Display"/>
              <a:sym typeface="Playfair Display"/>
            </a:endParaRPr>
          </a:p>
        </p:txBody>
      </p:sp>
      <p:sp>
        <p:nvSpPr>
          <p:cNvPr id="235" name="Google Shape;235;p21"/>
          <p:cNvSpPr txBox="1"/>
          <p:nvPr/>
        </p:nvSpPr>
        <p:spPr>
          <a:xfrm>
            <a:off x="4832007" y="992307"/>
            <a:ext cx="1210200" cy="5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6AA84F"/>
                </a:solidFill>
                <a:latin typeface="Playfair Display"/>
                <a:ea typeface="Playfair Display"/>
                <a:cs typeface="Playfair Display"/>
                <a:sym typeface="Playfair Display"/>
              </a:rPr>
              <a:t>Spike</a:t>
            </a:r>
            <a:endParaRPr i="1" sz="1200">
              <a:solidFill>
                <a:srgbClr val="6AA84F"/>
              </a:solidFill>
              <a:latin typeface="Playfair Display"/>
              <a:ea typeface="Playfair Display"/>
              <a:cs typeface="Playfair Display"/>
              <a:sym typeface="Playfair Display"/>
            </a:endParaRPr>
          </a:p>
        </p:txBody>
      </p:sp>
      <p:sp>
        <p:nvSpPr>
          <p:cNvPr id="236" name="Google Shape;236;p21"/>
          <p:cNvSpPr txBox="1"/>
          <p:nvPr/>
        </p:nvSpPr>
        <p:spPr>
          <a:xfrm>
            <a:off x="7569991" y="980199"/>
            <a:ext cx="1210200" cy="5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6AA84F"/>
                </a:solidFill>
                <a:latin typeface="Playfair Display"/>
                <a:ea typeface="Playfair Display"/>
                <a:cs typeface="Playfair Display"/>
                <a:sym typeface="Playfair Display"/>
              </a:rPr>
              <a:t>Saw</a:t>
            </a:r>
            <a:endParaRPr i="1" sz="1200">
              <a:solidFill>
                <a:srgbClr val="6AA84F"/>
              </a:solidFill>
              <a:latin typeface="Playfair Display"/>
              <a:ea typeface="Playfair Display"/>
              <a:cs typeface="Playfair Display"/>
              <a:sym typeface="Playfair Display"/>
            </a:endParaRPr>
          </a:p>
        </p:txBody>
      </p:sp>
      <p:sp>
        <p:nvSpPr>
          <p:cNvPr id="237" name="Google Shape;237;p21"/>
          <p:cNvSpPr txBox="1"/>
          <p:nvPr/>
        </p:nvSpPr>
        <p:spPr>
          <a:xfrm>
            <a:off x="6795705" y="2572676"/>
            <a:ext cx="1210200" cy="5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6AA84F"/>
                </a:solidFill>
                <a:latin typeface="Playfair Display"/>
                <a:ea typeface="Playfair Display"/>
                <a:cs typeface="Playfair Display"/>
                <a:sym typeface="Playfair Display"/>
              </a:rPr>
              <a:t>Checkpoint</a:t>
            </a:r>
            <a:endParaRPr i="1" sz="1200">
              <a:solidFill>
                <a:srgbClr val="6AA84F"/>
              </a:solidFill>
              <a:latin typeface="Playfair Display"/>
              <a:ea typeface="Playfair Display"/>
              <a:cs typeface="Playfair Display"/>
              <a:sym typeface="Playfair Display"/>
            </a:endParaRPr>
          </a:p>
        </p:txBody>
      </p:sp>
      <p:sp>
        <p:nvSpPr>
          <p:cNvPr id="238" name="Google Shape;238;p21"/>
          <p:cNvSpPr txBox="1"/>
          <p:nvPr/>
        </p:nvSpPr>
        <p:spPr>
          <a:xfrm>
            <a:off x="5500305" y="2446722"/>
            <a:ext cx="1210200" cy="5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6AA84F"/>
                </a:solidFill>
                <a:latin typeface="Playfair Display"/>
                <a:ea typeface="Playfair Display"/>
                <a:cs typeface="Playfair Display"/>
                <a:sym typeface="Playfair Display"/>
              </a:rPr>
              <a:t>Player Character</a:t>
            </a:r>
            <a:endParaRPr i="1" sz="1200">
              <a:solidFill>
                <a:srgbClr val="6AA84F"/>
              </a:solidFill>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22"/>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22"/>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6" name="Google Shape;246;p22"/>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7" name="Google Shape;247;p22"/>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8" name="Google Shape;248;p22"/>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57123"/>
                </a:solidFill>
              </a:rPr>
              <a:t>Challenges</a:t>
            </a:r>
            <a:endParaRPr u="sng">
              <a:solidFill>
                <a:srgbClr val="F57123"/>
              </a:solidFill>
            </a:endParaRPr>
          </a:p>
        </p:txBody>
      </p:sp>
      <p:sp>
        <p:nvSpPr>
          <p:cNvPr id="249" name="Google Shape;249;p22"/>
          <p:cNvSpPr txBox="1"/>
          <p:nvPr>
            <p:ph idx="1" type="body"/>
          </p:nvPr>
        </p:nvSpPr>
        <p:spPr>
          <a:xfrm>
            <a:off x="586500" y="1091963"/>
            <a:ext cx="7973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F57123"/>
              </a:buClr>
              <a:buSzPts val="1800"/>
              <a:buFont typeface="Playfair Display"/>
              <a:buChar char="●"/>
            </a:pPr>
            <a:r>
              <a:rPr lang="en">
                <a:solidFill>
                  <a:srgbClr val="F57123"/>
                </a:solidFill>
                <a:latin typeface="Playfair Display"/>
                <a:ea typeface="Playfair Display"/>
                <a:cs typeface="Playfair Display"/>
                <a:sym typeface="Playfair Display"/>
              </a:rPr>
              <a:t>Virtual Machines - Difficulties</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VMs crashing</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Unity errors</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Git errors</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VMs running slowly</a:t>
            </a:r>
            <a:endParaRPr>
              <a:solidFill>
                <a:srgbClr val="F57123"/>
              </a:solidFill>
              <a:latin typeface="Playfair Display"/>
              <a:ea typeface="Playfair Display"/>
              <a:cs typeface="Playfair Display"/>
              <a:sym typeface="Playfair Display"/>
            </a:endParaRPr>
          </a:p>
          <a:p>
            <a:pPr indent="-342900" lvl="0" marL="457200" rtl="0" algn="l">
              <a:spcBef>
                <a:spcPts val="0"/>
              </a:spcBef>
              <a:spcAft>
                <a:spcPts val="0"/>
              </a:spcAft>
              <a:buClr>
                <a:srgbClr val="F57123"/>
              </a:buClr>
              <a:buSzPts val="1800"/>
              <a:buFont typeface="Playfair Display"/>
              <a:buChar char="●"/>
            </a:pPr>
            <a:r>
              <a:rPr lang="en">
                <a:solidFill>
                  <a:srgbClr val="F57123"/>
                </a:solidFill>
                <a:latin typeface="Playfair Display"/>
                <a:ea typeface="Playfair Display"/>
                <a:cs typeface="Playfair Display"/>
                <a:sym typeface="Playfair Display"/>
              </a:rPr>
              <a:t>Scripts - Bugs</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Infinite jumping</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Player having the ability to double jump for lots of height</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Jumping up walls</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Jumping off walls</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Player only jumping a slight amount when moving against a wall </a:t>
            </a:r>
            <a:endParaRPr>
              <a:solidFill>
                <a:srgbClr val="F57123"/>
              </a:solidFill>
              <a:latin typeface="Playfair Display"/>
              <a:ea typeface="Playfair Display"/>
              <a:cs typeface="Playfair Display"/>
              <a:sym typeface="Playfair Display"/>
            </a:endParaRPr>
          </a:p>
          <a:p>
            <a:pPr indent="-317500" lvl="1" marL="914400" rtl="0" algn="l">
              <a:spcBef>
                <a:spcPts val="0"/>
              </a:spcBef>
              <a:spcAft>
                <a:spcPts val="0"/>
              </a:spcAft>
              <a:buClr>
                <a:srgbClr val="F57123"/>
              </a:buClr>
              <a:buSzPts val="1400"/>
              <a:buFont typeface="Playfair Display"/>
              <a:buChar char="○"/>
            </a:pPr>
            <a:r>
              <a:rPr lang="en">
                <a:solidFill>
                  <a:srgbClr val="F57123"/>
                </a:solidFill>
                <a:latin typeface="Playfair Display"/>
                <a:ea typeface="Playfair Display"/>
                <a:cs typeface="Playfair Display"/>
                <a:sym typeface="Playfair Display"/>
              </a:rPr>
              <a:t>Floor bumps</a:t>
            </a:r>
            <a:endParaRPr>
              <a:solidFill>
                <a:srgbClr val="F57123"/>
              </a:solidFill>
              <a:latin typeface="Playfair Display"/>
              <a:ea typeface="Playfair Display"/>
              <a:cs typeface="Playfair Display"/>
              <a:sym typeface="Playfair Display"/>
            </a:endParaRPr>
          </a:p>
        </p:txBody>
      </p:sp>
      <p:sp>
        <p:nvSpPr>
          <p:cNvPr id="250" name="Google Shape;250;p22"/>
          <p:cNvSpPr/>
          <p:nvPr/>
        </p:nvSpPr>
        <p:spPr>
          <a:xfrm>
            <a:off x="83530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1" name="Google Shape;251;p22"/>
          <p:cNvSpPr/>
          <p:nvPr/>
        </p:nvSpPr>
        <p:spPr>
          <a:xfrm>
            <a:off x="296150" y="239100"/>
            <a:ext cx="413400" cy="430800"/>
          </a:xfrm>
          <a:prstGeom prst="mathPlus">
            <a:avLst>
              <a:gd fmla="val 23520" name="adj1"/>
            </a:avLst>
          </a:prstGeom>
          <a:solidFill>
            <a:srgbClr val="F4271E"/>
          </a:solidFill>
          <a:ln cap="flat" cmpd="sng" w="9525">
            <a:solidFill>
              <a:srgbClr val="F427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2" name="Google Shape;252;p22"/>
          <p:cNvSpPr/>
          <p:nvPr/>
        </p:nvSpPr>
        <p:spPr>
          <a:xfrm>
            <a:off x="263248" y="43269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3" name="Google Shape;253;p22"/>
          <p:cNvSpPr/>
          <p:nvPr/>
        </p:nvSpPr>
        <p:spPr>
          <a:xfrm>
            <a:off x="8410050" y="4377138"/>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54" name="Google Shape;254;p22"/>
          <p:cNvPicPr preferRelativeResize="0"/>
          <p:nvPr/>
        </p:nvPicPr>
        <p:blipFill>
          <a:blip r:embed="rId3">
            <a:alphaModFix/>
          </a:blip>
          <a:stretch>
            <a:fillRect/>
          </a:stretch>
        </p:blipFill>
        <p:spPr>
          <a:xfrm>
            <a:off x="6743439" y="1461122"/>
            <a:ext cx="1609626" cy="1982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 name="Google Shape;260;p23"/>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 name="Google Shape;261;p23"/>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2" name="Google Shape;262;p23"/>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3" name="Google Shape;263;p23"/>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4" name="Google Shape;264;p23"/>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6AA84F"/>
                </a:solidFill>
              </a:rPr>
              <a:t>High Priority Tasks</a:t>
            </a:r>
            <a:endParaRPr u="sng">
              <a:solidFill>
                <a:srgbClr val="6AA84F"/>
              </a:solidFill>
            </a:endParaRPr>
          </a:p>
        </p:txBody>
      </p:sp>
      <p:sp>
        <p:nvSpPr>
          <p:cNvPr id="265" name="Google Shape;265;p23"/>
          <p:cNvSpPr txBox="1"/>
          <p:nvPr>
            <p:ph idx="1" type="body"/>
          </p:nvPr>
        </p:nvSpPr>
        <p:spPr>
          <a:xfrm>
            <a:off x="586500" y="1152475"/>
            <a:ext cx="7973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6AA84F"/>
              </a:buClr>
              <a:buSzPts val="1800"/>
              <a:buFont typeface="Playfair Display"/>
              <a:buChar char="●"/>
            </a:pPr>
            <a:r>
              <a:rPr lang="en">
                <a:solidFill>
                  <a:srgbClr val="6AA84F"/>
                </a:solidFill>
                <a:latin typeface="Playfair Display"/>
                <a:ea typeface="Playfair Display"/>
                <a:cs typeface="Playfair Display"/>
                <a:sym typeface="Playfair Display"/>
              </a:rPr>
              <a:t>Finishing up Paint &amp; Shooting</a:t>
            </a:r>
            <a:endParaRPr>
              <a:solidFill>
                <a:srgbClr val="6AA84F"/>
              </a:solidFill>
              <a:latin typeface="Playfair Display"/>
              <a:ea typeface="Playfair Display"/>
              <a:cs typeface="Playfair Display"/>
              <a:sym typeface="Playfair Display"/>
            </a:endParaRPr>
          </a:p>
          <a:p>
            <a:pPr indent="-317500" lvl="1" marL="914400" rtl="0" algn="l">
              <a:spcBef>
                <a:spcPts val="0"/>
              </a:spcBef>
              <a:spcAft>
                <a:spcPts val="0"/>
              </a:spcAft>
              <a:buClr>
                <a:srgbClr val="6AA84F"/>
              </a:buClr>
              <a:buSzPts val="1400"/>
              <a:buFont typeface="Playfair Display"/>
              <a:buChar char="○"/>
            </a:pPr>
            <a:r>
              <a:rPr lang="en">
                <a:solidFill>
                  <a:srgbClr val="6AA84F"/>
                </a:solidFill>
                <a:latin typeface="Playfair Display"/>
                <a:ea typeface="Playfair Display"/>
                <a:cs typeface="Playfair Display"/>
                <a:sym typeface="Playfair Display"/>
              </a:rPr>
              <a:t>This is the main </a:t>
            </a:r>
            <a:r>
              <a:rPr lang="en">
                <a:solidFill>
                  <a:srgbClr val="6AA84F"/>
                </a:solidFill>
                <a:latin typeface="Playfair Display"/>
                <a:ea typeface="Playfair Display"/>
                <a:cs typeface="Playfair Display"/>
                <a:sym typeface="Playfair Display"/>
              </a:rPr>
              <a:t>gimmick</a:t>
            </a:r>
            <a:r>
              <a:rPr lang="en">
                <a:solidFill>
                  <a:srgbClr val="6AA84F"/>
                </a:solidFill>
                <a:latin typeface="Playfair Display"/>
                <a:ea typeface="Playfair Display"/>
                <a:cs typeface="Playfair Display"/>
                <a:sym typeface="Playfair Display"/>
              </a:rPr>
              <a:t> of the game…</a:t>
            </a:r>
            <a:endParaRPr>
              <a:solidFill>
                <a:srgbClr val="6AA84F"/>
              </a:solidFill>
              <a:latin typeface="Playfair Display"/>
              <a:ea typeface="Playfair Display"/>
              <a:cs typeface="Playfair Display"/>
              <a:sym typeface="Playfair Display"/>
            </a:endParaRPr>
          </a:p>
          <a:p>
            <a:pPr indent="-317500" lvl="2" marL="1371600" rtl="0" algn="l">
              <a:spcBef>
                <a:spcPts val="0"/>
              </a:spcBef>
              <a:spcAft>
                <a:spcPts val="0"/>
              </a:spcAft>
              <a:buClr>
                <a:srgbClr val="6AA84F"/>
              </a:buClr>
              <a:buSzPts val="1400"/>
              <a:buFont typeface="Playfair Display"/>
              <a:buChar char="■"/>
            </a:pPr>
            <a:r>
              <a:rPr lang="en">
                <a:solidFill>
                  <a:srgbClr val="6AA84F"/>
                </a:solidFill>
                <a:latin typeface="Playfair Display"/>
                <a:ea typeface="Playfair Display"/>
                <a:cs typeface="Playfair Display"/>
                <a:sym typeface="Playfair Display"/>
              </a:rPr>
              <a:t>3 paint types implemented and working</a:t>
            </a:r>
            <a:endParaRPr>
              <a:solidFill>
                <a:srgbClr val="6AA84F"/>
              </a:solidFill>
              <a:latin typeface="Playfair Display"/>
              <a:ea typeface="Playfair Display"/>
              <a:cs typeface="Playfair Display"/>
              <a:sym typeface="Playfair Display"/>
            </a:endParaRPr>
          </a:p>
          <a:p>
            <a:pPr indent="-317500" lvl="2" marL="1371600" rtl="0" algn="l">
              <a:spcBef>
                <a:spcPts val="0"/>
              </a:spcBef>
              <a:spcAft>
                <a:spcPts val="0"/>
              </a:spcAft>
              <a:buClr>
                <a:srgbClr val="6AA84F"/>
              </a:buClr>
              <a:buSzPts val="1400"/>
              <a:buFont typeface="Playfair Display"/>
              <a:buChar char="■"/>
            </a:pPr>
            <a:r>
              <a:rPr lang="en">
                <a:solidFill>
                  <a:srgbClr val="6AA84F"/>
                </a:solidFill>
                <a:latin typeface="Playfair Display"/>
                <a:ea typeface="Playfair Display"/>
                <a:cs typeface="Playfair Display"/>
                <a:sym typeface="Playfair Display"/>
              </a:rPr>
              <a:t>Paint switching</a:t>
            </a:r>
            <a:endParaRPr>
              <a:solidFill>
                <a:srgbClr val="6AA84F"/>
              </a:solidFill>
              <a:latin typeface="Playfair Display"/>
              <a:ea typeface="Playfair Display"/>
              <a:cs typeface="Playfair Display"/>
              <a:sym typeface="Playfair Display"/>
            </a:endParaRPr>
          </a:p>
          <a:p>
            <a:pPr indent="-317500" lvl="2" marL="1371600" rtl="0" algn="l">
              <a:spcBef>
                <a:spcPts val="0"/>
              </a:spcBef>
              <a:spcAft>
                <a:spcPts val="0"/>
              </a:spcAft>
              <a:buClr>
                <a:srgbClr val="6AA84F"/>
              </a:buClr>
              <a:buSzPts val="1400"/>
              <a:buFont typeface="Playfair Display"/>
              <a:buChar char="■"/>
            </a:pPr>
            <a:r>
              <a:rPr lang="en">
                <a:solidFill>
                  <a:srgbClr val="6AA84F"/>
                </a:solidFill>
                <a:latin typeface="Playfair Display"/>
                <a:ea typeface="Playfair Display"/>
                <a:cs typeface="Playfair Display"/>
                <a:sym typeface="Playfair Display"/>
              </a:rPr>
              <a:t>4 weapon types (if we get time)</a:t>
            </a:r>
            <a:endParaRPr>
              <a:solidFill>
                <a:srgbClr val="6AA84F"/>
              </a:solidFill>
              <a:latin typeface="Playfair Display"/>
              <a:ea typeface="Playfair Display"/>
              <a:cs typeface="Playfair Display"/>
              <a:sym typeface="Playfair Display"/>
            </a:endParaRPr>
          </a:p>
          <a:p>
            <a:pPr indent="-342900" lvl="0" marL="457200" rtl="0" algn="l">
              <a:spcBef>
                <a:spcPts val="0"/>
              </a:spcBef>
              <a:spcAft>
                <a:spcPts val="0"/>
              </a:spcAft>
              <a:buClr>
                <a:srgbClr val="6AA84F"/>
              </a:buClr>
              <a:buSzPts val="1800"/>
              <a:buFont typeface="Playfair Display"/>
              <a:buChar char="●"/>
            </a:pPr>
            <a:r>
              <a:rPr lang="en">
                <a:solidFill>
                  <a:srgbClr val="6AA84F"/>
                </a:solidFill>
                <a:latin typeface="Playfair Display"/>
                <a:ea typeface="Playfair Display"/>
                <a:cs typeface="Playfair Display"/>
                <a:sym typeface="Playfair Display"/>
              </a:rPr>
              <a:t>Getting more levels done</a:t>
            </a:r>
            <a:endParaRPr>
              <a:solidFill>
                <a:srgbClr val="6AA84F"/>
              </a:solidFill>
              <a:latin typeface="Playfair Display"/>
              <a:ea typeface="Playfair Display"/>
              <a:cs typeface="Playfair Display"/>
              <a:sym typeface="Playfair Display"/>
            </a:endParaRPr>
          </a:p>
          <a:p>
            <a:pPr indent="-317500" lvl="1" marL="914400" rtl="0" algn="l">
              <a:spcBef>
                <a:spcPts val="0"/>
              </a:spcBef>
              <a:spcAft>
                <a:spcPts val="0"/>
              </a:spcAft>
              <a:buClr>
                <a:srgbClr val="6AA84F"/>
              </a:buClr>
              <a:buSzPts val="1400"/>
              <a:buFont typeface="Playfair Display"/>
              <a:buChar char="○"/>
            </a:pPr>
            <a:r>
              <a:rPr lang="en">
                <a:solidFill>
                  <a:srgbClr val="6AA84F"/>
                </a:solidFill>
                <a:latin typeface="Playfair Display"/>
                <a:ea typeface="Playfair Display"/>
                <a:cs typeface="Playfair Display"/>
                <a:sym typeface="Playfair Display"/>
              </a:rPr>
              <a:t>Hard to do without paint and shooting</a:t>
            </a:r>
            <a:endParaRPr>
              <a:solidFill>
                <a:srgbClr val="6AA84F"/>
              </a:solidFill>
              <a:latin typeface="Playfair Display"/>
              <a:ea typeface="Playfair Display"/>
              <a:cs typeface="Playfair Display"/>
              <a:sym typeface="Playfair Display"/>
            </a:endParaRPr>
          </a:p>
          <a:p>
            <a:pPr indent="-342900" lvl="0" marL="457200" rtl="0" algn="l">
              <a:spcBef>
                <a:spcPts val="0"/>
              </a:spcBef>
              <a:spcAft>
                <a:spcPts val="0"/>
              </a:spcAft>
              <a:buClr>
                <a:srgbClr val="6AA84F"/>
              </a:buClr>
              <a:buSzPts val="1800"/>
              <a:buFont typeface="Playfair Display"/>
              <a:buChar char="●"/>
            </a:pPr>
            <a:r>
              <a:rPr lang="en">
                <a:solidFill>
                  <a:srgbClr val="6AA84F"/>
                </a:solidFill>
                <a:latin typeface="Playfair Display"/>
                <a:ea typeface="Playfair Display"/>
                <a:cs typeface="Playfair Display"/>
                <a:sym typeface="Playfair Display"/>
              </a:rPr>
              <a:t>Sprite Work</a:t>
            </a:r>
            <a:endParaRPr>
              <a:solidFill>
                <a:srgbClr val="6AA84F"/>
              </a:solidFill>
              <a:latin typeface="Playfair Display"/>
              <a:ea typeface="Playfair Display"/>
              <a:cs typeface="Playfair Display"/>
              <a:sym typeface="Playfair Display"/>
            </a:endParaRPr>
          </a:p>
          <a:p>
            <a:pPr indent="-317500" lvl="1" marL="914400" rtl="0" algn="l">
              <a:spcBef>
                <a:spcPts val="0"/>
              </a:spcBef>
              <a:spcAft>
                <a:spcPts val="0"/>
              </a:spcAft>
              <a:buClr>
                <a:srgbClr val="6AA84F"/>
              </a:buClr>
              <a:buSzPts val="1400"/>
              <a:buFont typeface="Playfair Display"/>
              <a:buChar char="○"/>
            </a:pPr>
            <a:r>
              <a:rPr lang="en">
                <a:solidFill>
                  <a:srgbClr val="6AA84F"/>
                </a:solidFill>
                <a:latin typeface="Playfair Display"/>
                <a:ea typeface="Playfair Display"/>
                <a:cs typeface="Playfair Display"/>
                <a:sym typeface="Playfair Display"/>
              </a:rPr>
              <a:t>Need at least a higher tech version of the current player as it needs to be shooting paint.</a:t>
            </a:r>
            <a:endParaRPr>
              <a:solidFill>
                <a:srgbClr val="6AA84F"/>
              </a:solidFill>
              <a:latin typeface="Playfair Display"/>
              <a:ea typeface="Playfair Display"/>
              <a:cs typeface="Playfair Display"/>
              <a:sym typeface="Playfair Display"/>
            </a:endParaRPr>
          </a:p>
          <a:p>
            <a:pPr indent="-342900" lvl="0" marL="457200" rtl="0" algn="l">
              <a:spcBef>
                <a:spcPts val="0"/>
              </a:spcBef>
              <a:spcAft>
                <a:spcPts val="0"/>
              </a:spcAft>
              <a:buClr>
                <a:srgbClr val="6AA84F"/>
              </a:buClr>
              <a:buSzPts val="1800"/>
              <a:buFont typeface="Playfair Display"/>
              <a:buChar char="●"/>
            </a:pPr>
            <a:r>
              <a:rPr lang="en">
                <a:solidFill>
                  <a:srgbClr val="6AA84F"/>
                </a:solidFill>
                <a:latin typeface="Playfair Display"/>
                <a:ea typeface="Playfair Display"/>
                <a:cs typeface="Playfair Display"/>
                <a:sym typeface="Playfair Display"/>
              </a:rPr>
              <a:t>Menus and Level Select</a:t>
            </a:r>
            <a:endParaRPr>
              <a:solidFill>
                <a:srgbClr val="6AA84F"/>
              </a:solidFill>
              <a:latin typeface="Playfair Display"/>
              <a:ea typeface="Playfair Display"/>
              <a:cs typeface="Playfair Display"/>
              <a:sym typeface="Playfair Display"/>
            </a:endParaRPr>
          </a:p>
        </p:txBody>
      </p:sp>
      <p:sp>
        <p:nvSpPr>
          <p:cNvPr id="266" name="Google Shape;266;p23"/>
          <p:cNvSpPr/>
          <p:nvPr/>
        </p:nvSpPr>
        <p:spPr>
          <a:xfrm>
            <a:off x="8353048" y="4326900"/>
            <a:ext cx="527400" cy="5313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 name="Google Shape;267;p23"/>
          <p:cNvSpPr/>
          <p:nvPr/>
        </p:nvSpPr>
        <p:spPr>
          <a:xfrm>
            <a:off x="296150" y="23910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8" name="Google Shape;268;p23"/>
          <p:cNvSpPr/>
          <p:nvPr/>
        </p:nvSpPr>
        <p:spPr>
          <a:xfrm>
            <a:off x="263258" y="43269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p23"/>
          <p:cNvSpPr/>
          <p:nvPr/>
        </p:nvSpPr>
        <p:spPr>
          <a:xfrm>
            <a:off x="8410050" y="28123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70" name="Google Shape;270;p23" title="Orange Paint Select.png"/>
          <p:cNvPicPr preferRelativeResize="0"/>
          <p:nvPr/>
        </p:nvPicPr>
        <p:blipFill>
          <a:blip r:embed="rId3">
            <a:alphaModFix/>
          </a:blip>
          <a:stretch>
            <a:fillRect/>
          </a:stretch>
        </p:blipFill>
        <p:spPr>
          <a:xfrm>
            <a:off x="5728625" y="1255875"/>
            <a:ext cx="883725" cy="883725"/>
          </a:xfrm>
          <a:prstGeom prst="rect">
            <a:avLst/>
          </a:prstGeom>
          <a:noFill/>
          <a:ln>
            <a:noFill/>
          </a:ln>
        </p:spPr>
      </p:pic>
      <p:pic>
        <p:nvPicPr>
          <p:cNvPr id="271" name="Google Shape;271;p23" title="Green Paint Select.png"/>
          <p:cNvPicPr preferRelativeResize="0"/>
          <p:nvPr/>
        </p:nvPicPr>
        <p:blipFill>
          <a:blip r:embed="rId4">
            <a:alphaModFix/>
          </a:blip>
          <a:stretch>
            <a:fillRect/>
          </a:stretch>
        </p:blipFill>
        <p:spPr>
          <a:xfrm>
            <a:off x="6309800" y="2188025"/>
            <a:ext cx="1006550" cy="1006550"/>
          </a:xfrm>
          <a:prstGeom prst="rect">
            <a:avLst/>
          </a:prstGeom>
          <a:noFill/>
          <a:ln>
            <a:noFill/>
          </a:ln>
        </p:spPr>
      </p:pic>
      <p:pic>
        <p:nvPicPr>
          <p:cNvPr id="272" name="Google Shape;272;p23" title="Red Paint Select.png"/>
          <p:cNvPicPr preferRelativeResize="0"/>
          <p:nvPr/>
        </p:nvPicPr>
        <p:blipFill>
          <a:blip r:embed="rId5">
            <a:alphaModFix/>
          </a:blip>
          <a:stretch>
            <a:fillRect/>
          </a:stretch>
        </p:blipFill>
        <p:spPr>
          <a:xfrm>
            <a:off x="6958200" y="1017450"/>
            <a:ext cx="1213350" cy="1213350"/>
          </a:xfrm>
          <a:prstGeom prst="rect">
            <a:avLst/>
          </a:prstGeom>
          <a:noFill/>
          <a:ln>
            <a:noFill/>
          </a:ln>
        </p:spPr>
      </p:pic>
    </p:spTree>
  </p:cSld>
  <p:clrMapOvr>
    <a:masterClrMapping/>
  </p:clrMapOvr>
  <mc:AlternateContent>
    <mc:Choice Requires="p14">
      <p:transition spd="slow" p14:dur="700">
        <p:pus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24"/>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24"/>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0" name="Google Shape;280;p24"/>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1" name="Google Shape;281;p24"/>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2" name="Google Shape;282;p24"/>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4271E"/>
                </a:solidFill>
              </a:rPr>
              <a:t>Reach Goals</a:t>
            </a:r>
            <a:endParaRPr u="sng">
              <a:solidFill>
                <a:srgbClr val="F4271E"/>
              </a:solidFill>
            </a:endParaRPr>
          </a:p>
        </p:txBody>
      </p:sp>
      <p:sp>
        <p:nvSpPr>
          <p:cNvPr id="283" name="Google Shape;283;p24"/>
          <p:cNvSpPr txBox="1"/>
          <p:nvPr>
            <p:ph idx="1" type="body"/>
          </p:nvPr>
        </p:nvSpPr>
        <p:spPr>
          <a:xfrm>
            <a:off x="586500" y="1152475"/>
            <a:ext cx="5612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Expanded Story</a:t>
            </a:r>
            <a:endParaRPr>
              <a:solidFill>
                <a:srgbClr val="F4271E"/>
              </a:solidFill>
              <a:latin typeface="Playfair Display"/>
              <a:ea typeface="Playfair Display"/>
              <a:cs typeface="Playfair Display"/>
              <a:sym typeface="Playfair Display"/>
            </a:endParaRPr>
          </a:p>
          <a:p>
            <a:pPr indent="-310832" lvl="1" marL="9144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For now the player will most likely be given a plot synopsis but if time permits we can weave the story into the game.</a:t>
            </a:r>
            <a:endParaRPr>
              <a:solidFill>
                <a:srgbClr val="F4271E"/>
              </a:solidFill>
              <a:latin typeface="Playfair Display"/>
              <a:ea typeface="Playfair Display"/>
              <a:cs typeface="Playfair Display"/>
              <a:sym typeface="Playfair Display"/>
            </a:endParaRPr>
          </a:p>
          <a:p>
            <a:pPr indent="-334328" lvl="0" marL="4572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Level Select to Sandbox</a:t>
            </a:r>
            <a:endParaRPr>
              <a:solidFill>
                <a:srgbClr val="F4271E"/>
              </a:solidFill>
              <a:latin typeface="Playfair Display"/>
              <a:ea typeface="Playfair Display"/>
              <a:cs typeface="Playfair Display"/>
              <a:sym typeface="Playfair Display"/>
            </a:endParaRPr>
          </a:p>
          <a:p>
            <a:pPr indent="-310832" lvl="1" marL="9144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Instead of a boring menu you can travel freely and use all your paints in a sandbox area to select levels. Think something like the Kirby games.</a:t>
            </a:r>
            <a:endParaRPr>
              <a:solidFill>
                <a:srgbClr val="F4271E"/>
              </a:solidFill>
              <a:latin typeface="Playfair Display"/>
              <a:ea typeface="Playfair Display"/>
              <a:cs typeface="Playfair Display"/>
              <a:sym typeface="Playfair Display"/>
            </a:endParaRPr>
          </a:p>
          <a:p>
            <a:pPr indent="-334328" lvl="0" marL="4572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Speedrun Feature</a:t>
            </a:r>
            <a:endParaRPr>
              <a:solidFill>
                <a:srgbClr val="F4271E"/>
              </a:solidFill>
              <a:latin typeface="Playfair Display"/>
              <a:ea typeface="Playfair Display"/>
              <a:cs typeface="Playfair Display"/>
              <a:sym typeface="Playfair Display"/>
            </a:endParaRPr>
          </a:p>
          <a:p>
            <a:pPr indent="-310832" lvl="1" marL="9144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Pretty much just add a  speedrun option with a timer and </a:t>
            </a:r>
            <a:r>
              <a:rPr lang="en">
                <a:solidFill>
                  <a:srgbClr val="F4271E"/>
                </a:solidFill>
                <a:latin typeface="Playfair Display"/>
                <a:ea typeface="Playfair Display"/>
                <a:cs typeface="Playfair Display"/>
                <a:sym typeface="Playfair Display"/>
              </a:rPr>
              <a:t>skippable</a:t>
            </a:r>
            <a:r>
              <a:rPr lang="en">
                <a:solidFill>
                  <a:srgbClr val="F4271E"/>
                </a:solidFill>
                <a:latin typeface="Playfair Display"/>
                <a:ea typeface="Playfair Display"/>
                <a:cs typeface="Playfair Display"/>
                <a:sym typeface="Playfair Display"/>
              </a:rPr>
              <a:t> cutscenes (if expanded story happens).</a:t>
            </a:r>
            <a:endParaRPr>
              <a:solidFill>
                <a:srgbClr val="F4271E"/>
              </a:solidFill>
              <a:latin typeface="Playfair Display"/>
              <a:ea typeface="Playfair Display"/>
              <a:cs typeface="Playfair Display"/>
              <a:sym typeface="Playfair Display"/>
            </a:endParaRPr>
          </a:p>
          <a:p>
            <a:pPr indent="-334328" lvl="0" marL="4572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Level Editor (least likely)</a:t>
            </a:r>
            <a:endParaRPr>
              <a:solidFill>
                <a:srgbClr val="F4271E"/>
              </a:solidFill>
              <a:latin typeface="Playfair Display"/>
              <a:ea typeface="Playfair Display"/>
              <a:cs typeface="Playfair Display"/>
              <a:sym typeface="Playfair Display"/>
            </a:endParaRPr>
          </a:p>
          <a:p>
            <a:pPr indent="-310832" lvl="1" marL="914400" rtl="0" algn="l">
              <a:spcBef>
                <a:spcPts val="0"/>
              </a:spcBef>
              <a:spcAft>
                <a:spcPts val="0"/>
              </a:spcAft>
              <a:buClr>
                <a:srgbClr val="F4271E"/>
              </a:buClr>
              <a:buSzPct val="100000"/>
              <a:buFont typeface="Playfair Display"/>
              <a:buChar char="○"/>
            </a:pPr>
            <a:r>
              <a:rPr lang="en">
                <a:solidFill>
                  <a:srgbClr val="F4271E"/>
                </a:solidFill>
                <a:latin typeface="Playfair Display"/>
                <a:ea typeface="Playfair Display"/>
                <a:cs typeface="Playfair Display"/>
                <a:sym typeface="Playfair Display"/>
              </a:rPr>
              <a:t>Due to how we are making the game we would have to go out of the way to make a whole other interface for this.</a:t>
            </a:r>
            <a:endParaRPr>
              <a:solidFill>
                <a:srgbClr val="F4271E"/>
              </a:solidFill>
              <a:latin typeface="Playfair Display"/>
              <a:ea typeface="Playfair Display"/>
              <a:cs typeface="Playfair Display"/>
              <a:sym typeface="Playfair Display"/>
            </a:endParaRPr>
          </a:p>
        </p:txBody>
      </p:sp>
      <p:sp>
        <p:nvSpPr>
          <p:cNvPr id="284" name="Google Shape;284;p24"/>
          <p:cNvSpPr/>
          <p:nvPr/>
        </p:nvSpPr>
        <p:spPr>
          <a:xfrm>
            <a:off x="83530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5" name="Google Shape;285;p24"/>
          <p:cNvSpPr/>
          <p:nvPr/>
        </p:nvSpPr>
        <p:spPr>
          <a:xfrm>
            <a:off x="320250" y="4434275"/>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6" name="Google Shape;286;p24"/>
          <p:cNvSpPr/>
          <p:nvPr/>
        </p:nvSpPr>
        <p:spPr>
          <a:xfrm>
            <a:off x="263248" y="239100"/>
            <a:ext cx="527400" cy="531300"/>
          </a:xfrm>
          <a:prstGeom prst="mathPlus">
            <a:avLst>
              <a:gd fmla="val 23520" name="adj1"/>
            </a:avLst>
          </a:prstGeom>
          <a:solidFill>
            <a:srgbClr val="F4271E"/>
          </a:solidFill>
          <a:ln cap="flat" cmpd="sng" w="9525">
            <a:solidFill>
              <a:srgbClr val="F427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7" name="Google Shape;287;p24"/>
          <p:cNvSpPr/>
          <p:nvPr/>
        </p:nvSpPr>
        <p:spPr>
          <a:xfrm>
            <a:off x="8410050" y="437713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88" name="Google Shape;288;p24"/>
          <p:cNvPicPr preferRelativeResize="0"/>
          <p:nvPr/>
        </p:nvPicPr>
        <p:blipFill>
          <a:blip r:embed="rId3">
            <a:alphaModFix/>
          </a:blip>
          <a:stretch>
            <a:fillRect/>
          </a:stretch>
        </p:blipFill>
        <p:spPr>
          <a:xfrm>
            <a:off x="6252413" y="1930024"/>
            <a:ext cx="2574526" cy="1004150"/>
          </a:xfrm>
          <a:prstGeom prst="rect">
            <a:avLst/>
          </a:prstGeom>
          <a:noFill/>
          <a:ln cap="flat" cmpd="sng" w="28575">
            <a:solidFill>
              <a:srgbClr val="F4271E"/>
            </a:solidFill>
            <a:prstDash val="solid"/>
            <a:round/>
            <a:headEnd len="sm" w="sm" type="none"/>
            <a:tailEnd len="sm" w="sm" type="none"/>
          </a:ln>
        </p:spPr>
      </p:pic>
      <p:sp>
        <p:nvSpPr>
          <p:cNvPr id="289" name="Google Shape;289;p24"/>
          <p:cNvSpPr txBox="1"/>
          <p:nvPr/>
        </p:nvSpPr>
        <p:spPr>
          <a:xfrm>
            <a:off x="6461175" y="2934175"/>
            <a:ext cx="2157000" cy="43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4271E"/>
                </a:solidFill>
                <a:latin typeface="Lato"/>
                <a:ea typeface="Lato"/>
                <a:cs typeface="Lato"/>
                <a:sym typeface="Lato"/>
              </a:rPr>
              <a:t>Look it is a sneak peak of the </a:t>
            </a:r>
            <a:r>
              <a:rPr lang="en" sz="1000">
                <a:solidFill>
                  <a:srgbClr val="F4271E"/>
                </a:solidFill>
                <a:latin typeface="Lato"/>
                <a:ea typeface="Lato"/>
                <a:cs typeface="Lato"/>
                <a:sym typeface="Lato"/>
              </a:rPr>
              <a:t>story</a:t>
            </a:r>
            <a:r>
              <a:rPr lang="en" sz="1000">
                <a:solidFill>
                  <a:srgbClr val="F4271E"/>
                </a:solidFill>
                <a:latin typeface="Lato"/>
                <a:ea typeface="Lato"/>
                <a:cs typeface="Lato"/>
                <a:sym typeface="Lato"/>
              </a:rPr>
              <a:t>!</a:t>
            </a:r>
            <a:endParaRPr sz="1000">
              <a:solidFill>
                <a:srgbClr val="F4271E"/>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5"/>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5" name="Google Shape;295;p25"/>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6" name="Google Shape;296;p25"/>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7" name="Google Shape;297;p25"/>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8" name="Google Shape;298;p25"/>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9" name="Google Shape;299;p25"/>
          <p:cNvSpPr txBox="1"/>
          <p:nvPr>
            <p:ph type="title"/>
          </p:nvPr>
        </p:nvSpPr>
        <p:spPr>
          <a:xfrm>
            <a:off x="586438" y="391350"/>
            <a:ext cx="7973700" cy="626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solidFill>
                  <a:srgbClr val="F57123"/>
                </a:solidFill>
              </a:rPr>
              <a:t>Tech Demo</a:t>
            </a:r>
            <a:endParaRPr u="sng">
              <a:solidFill>
                <a:srgbClr val="F57123"/>
              </a:solidFill>
            </a:endParaRPr>
          </a:p>
        </p:txBody>
      </p:sp>
      <p:sp>
        <p:nvSpPr>
          <p:cNvPr id="300" name="Google Shape;300;p25"/>
          <p:cNvSpPr txBox="1"/>
          <p:nvPr>
            <p:ph idx="1" type="body"/>
          </p:nvPr>
        </p:nvSpPr>
        <p:spPr>
          <a:xfrm>
            <a:off x="586500" y="1000075"/>
            <a:ext cx="7973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F57123"/>
              </a:buClr>
              <a:buSzPts val="1800"/>
              <a:buFont typeface="Playfair Display"/>
              <a:buChar char="●"/>
            </a:pPr>
            <a:r>
              <a:rPr lang="en" u="sng">
                <a:solidFill>
                  <a:schemeClr val="hlink"/>
                </a:solidFill>
                <a:latin typeface="Playfair Display"/>
                <a:ea typeface="Playfair Display"/>
                <a:cs typeface="Playfair Display"/>
                <a:sym typeface="Playfair Display"/>
                <a:hlinkClick r:id="rId3"/>
              </a:rPr>
              <a:t>https://github.com/Fennec427/Project-Egress</a:t>
            </a:r>
            <a:endParaRPr>
              <a:solidFill>
                <a:srgbClr val="F57123"/>
              </a:solidFill>
              <a:latin typeface="Playfair Display"/>
              <a:ea typeface="Playfair Display"/>
              <a:cs typeface="Playfair Display"/>
              <a:sym typeface="Playfair Display"/>
            </a:endParaRPr>
          </a:p>
          <a:p>
            <a:pPr indent="-342900" lvl="0" marL="457200" rtl="0" algn="l">
              <a:spcBef>
                <a:spcPts val="0"/>
              </a:spcBef>
              <a:spcAft>
                <a:spcPts val="0"/>
              </a:spcAft>
              <a:buClr>
                <a:srgbClr val="F57123"/>
              </a:buClr>
              <a:buSzPts val="1800"/>
              <a:buFont typeface="Playfair Display"/>
              <a:buChar char="●"/>
            </a:pPr>
            <a:r>
              <a:rPr lang="en">
                <a:solidFill>
                  <a:srgbClr val="F57123"/>
                </a:solidFill>
                <a:latin typeface="Playfair Display"/>
                <a:ea typeface="Playfair Display"/>
                <a:cs typeface="Playfair Display"/>
                <a:sym typeface="Playfair Display"/>
              </a:rPr>
              <a:t>There is a tech demo that allows everyone to try it on their own!</a:t>
            </a:r>
            <a:endParaRPr>
              <a:solidFill>
                <a:srgbClr val="F57123"/>
              </a:solidFill>
              <a:latin typeface="Playfair Display"/>
              <a:ea typeface="Playfair Display"/>
              <a:cs typeface="Playfair Display"/>
              <a:sym typeface="Playfair Display"/>
            </a:endParaRPr>
          </a:p>
          <a:p>
            <a:pPr indent="-342900" lvl="0" marL="457200" rtl="0" algn="l">
              <a:spcBef>
                <a:spcPts val="0"/>
              </a:spcBef>
              <a:spcAft>
                <a:spcPts val="0"/>
              </a:spcAft>
              <a:buClr>
                <a:srgbClr val="F57123"/>
              </a:buClr>
              <a:buSzPts val="1800"/>
              <a:buFont typeface="Playfair Display"/>
              <a:buChar char="●"/>
            </a:pPr>
            <a:r>
              <a:rPr lang="en">
                <a:solidFill>
                  <a:srgbClr val="F57123"/>
                </a:solidFill>
                <a:latin typeface="Playfair Display"/>
                <a:ea typeface="Playfair Display"/>
                <a:cs typeface="Playfair Display"/>
                <a:sym typeface="Playfair Display"/>
              </a:rPr>
              <a:t>See “Releases” on the right side of the GitHub repository.</a:t>
            </a:r>
            <a:endParaRPr>
              <a:solidFill>
                <a:srgbClr val="F57123"/>
              </a:solidFill>
              <a:latin typeface="Playfair Display"/>
              <a:ea typeface="Playfair Display"/>
              <a:cs typeface="Playfair Display"/>
              <a:sym typeface="Playfair Display"/>
            </a:endParaRPr>
          </a:p>
        </p:txBody>
      </p:sp>
      <p:sp>
        <p:nvSpPr>
          <p:cNvPr id="301" name="Google Shape;301;p25"/>
          <p:cNvSpPr/>
          <p:nvPr/>
        </p:nvSpPr>
        <p:spPr>
          <a:xfrm>
            <a:off x="263248" y="239100"/>
            <a:ext cx="527400" cy="531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2" name="Google Shape;302;p25"/>
          <p:cNvSpPr/>
          <p:nvPr/>
        </p:nvSpPr>
        <p:spPr>
          <a:xfrm>
            <a:off x="8410050" y="289350"/>
            <a:ext cx="413400" cy="4308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3" name="Google Shape;303;p25"/>
          <p:cNvSpPr/>
          <p:nvPr/>
        </p:nvSpPr>
        <p:spPr>
          <a:xfrm>
            <a:off x="263248" y="4326900"/>
            <a:ext cx="527400" cy="531300"/>
          </a:xfrm>
          <a:prstGeom prst="mathPlus">
            <a:avLst>
              <a:gd fmla="val 23520" name="adj1"/>
            </a:avLst>
          </a:prstGeom>
          <a:solidFill>
            <a:srgbClr val="A3FE2F"/>
          </a:solidFill>
          <a:ln cap="flat" cmpd="sng" w="9525">
            <a:solidFill>
              <a:srgbClr val="A3FE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4" name="Google Shape;304;p25"/>
          <p:cNvSpPr/>
          <p:nvPr/>
        </p:nvSpPr>
        <p:spPr>
          <a:xfrm>
            <a:off x="8410050" y="4377138"/>
            <a:ext cx="413400" cy="4308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05" name="Google Shape;305;p25"/>
          <p:cNvPicPr preferRelativeResize="0"/>
          <p:nvPr/>
        </p:nvPicPr>
        <p:blipFill>
          <a:blip r:embed="rId4">
            <a:alphaModFix/>
          </a:blip>
          <a:stretch>
            <a:fillRect/>
          </a:stretch>
        </p:blipFill>
        <p:spPr>
          <a:xfrm>
            <a:off x="2850613" y="2167677"/>
            <a:ext cx="3442476" cy="1940750"/>
          </a:xfrm>
          <a:prstGeom prst="rect">
            <a:avLst/>
          </a:prstGeom>
          <a:noFill/>
          <a:ln cap="flat" cmpd="sng" w="28575">
            <a:solidFill>
              <a:srgbClr val="F57123"/>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p:nvPr/>
        </p:nvSpPr>
        <p:spPr>
          <a:xfrm>
            <a:off x="263250" y="239100"/>
            <a:ext cx="8617200" cy="4665300"/>
          </a:xfrm>
          <a:prstGeom prst="rect">
            <a:avLst/>
          </a:prstGeom>
          <a:solidFill>
            <a:srgbClr val="EBD2AF"/>
          </a:solidFill>
          <a:ln cap="flat" cmpd="sng" w="9525">
            <a:solidFill>
              <a:srgbClr val="EBD2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1" name="Google Shape;311;p26"/>
          <p:cNvSpPr/>
          <p:nvPr/>
        </p:nvSpPr>
        <p:spPr>
          <a:xfrm>
            <a:off x="-150" y="23910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2" name="Google Shape;312;p26"/>
          <p:cNvSpPr/>
          <p:nvPr/>
        </p:nvSpPr>
        <p:spPr>
          <a:xfrm>
            <a:off x="-150" y="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3" name="Google Shape;313;p26"/>
          <p:cNvSpPr/>
          <p:nvPr/>
        </p:nvSpPr>
        <p:spPr>
          <a:xfrm>
            <a:off x="8880450" y="0"/>
            <a:ext cx="263400" cy="49044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26"/>
          <p:cNvSpPr/>
          <p:nvPr/>
        </p:nvSpPr>
        <p:spPr>
          <a:xfrm>
            <a:off x="0" y="4904400"/>
            <a:ext cx="9144000" cy="239100"/>
          </a:xfrm>
          <a:prstGeom prst="rect">
            <a:avLst/>
          </a:prstGeom>
          <a:solidFill>
            <a:srgbClr val="7F6530"/>
          </a:solidFill>
          <a:ln cap="flat" cmpd="sng" w="9525">
            <a:solidFill>
              <a:srgbClr val="7F65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5" name="Google Shape;315;p26"/>
          <p:cNvSpPr txBox="1"/>
          <p:nvPr>
            <p:ph type="title"/>
          </p:nvPr>
        </p:nvSpPr>
        <p:spPr>
          <a:xfrm>
            <a:off x="584988" y="1769425"/>
            <a:ext cx="7973700" cy="62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380">
                <a:solidFill>
                  <a:srgbClr val="F4271E"/>
                </a:solidFill>
              </a:rPr>
              <a:t>T</a:t>
            </a:r>
            <a:r>
              <a:rPr lang="en" sz="4380">
                <a:solidFill>
                  <a:srgbClr val="F57123"/>
                </a:solidFill>
              </a:rPr>
              <a:t>h</a:t>
            </a:r>
            <a:r>
              <a:rPr lang="en" sz="4380">
                <a:solidFill>
                  <a:srgbClr val="6AA84F"/>
                </a:solidFill>
              </a:rPr>
              <a:t>a</a:t>
            </a:r>
            <a:r>
              <a:rPr lang="en" sz="4380">
                <a:solidFill>
                  <a:srgbClr val="F4271E"/>
                </a:solidFill>
              </a:rPr>
              <a:t>n</a:t>
            </a:r>
            <a:r>
              <a:rPr lang="en" sz="4380">
                <a:solidFill>
                  <a:srgbClr val="F57123"/>
                </a:solidFill>
              </a:rPr>
              <a:t>k</a:t>
            </a:r>
            <a:r>
              <a:rPr lang="en" sz="4380">
                <a:solidFill>
                  <a:srgbClr val="F4271E"/>
                </a:solidFill>
              </a:rPr>
              <a:t> </a:t>
            </a:r>
            <a:r>
              <a:rPr lang="en" sz="4380">
                <a:solidFill>
                  <a:srgbClr val="6AA84F"/>
                </a:solidFill>
              </a:rPr>
              <a:t>Y</a:t>
            </a:r>
            <a:r>
              <a:rPr lang="en" sz="4380">
                <a:solidFill>
                  <a:srgbClr val="F4271E"/>
                </a:solidFill>
              </a:rPr>
              <a:t>o</a:t>
            </a:r>
            <a:r>
              <a:rPr lang="en" sz="4380">
                <a:solidFill>
                  <a:srgbClr val="F57123"/>
                </a:solidFill>
              </a:rPr>
              <a:t>u</a:t>
            </a:r>
            <a:r>
              <a:rPr lang="en" sz="4380">
                <a:solidFill>
                  <a:srgbClr val="6AA84F"/>
                </a:solidFill>
              </a:rPr>
              <a:t>!</a:t>
            </a:r>
            <a:r>
              <a:rPr lang="en" sz="4380">
                <a:solidFill>
                  <a:srgbClr val="F4271E"/>
                </a:solidFill>
              </a:rPr>
              <a:t> </a:t>
            </a:r>
            <a:endParaRPr sz="4380">
              <a:solidFill>
                <a:srgbClr val="F4271E"/>
              </a:solidFill>
            </a:endParaRPr>
          </a:p>
          <a:p>
            <a:pPr indent="0" lvl="0" marL="0" rtl="0" algn="ctr">
              <a:spcBef>
                <a:spcPts val="0"/>
              </a:spcBef>
              <a:spcAft>
                <a:spcPts val="0"/>
              </a:spcAft>
              <a:buSzPts val="990"/>
              <a:buNone/>
            </a:pPr>
            <a:r>
              <a:rPr lang="en" sz="4380">
                <a:solidFill>
                  <a:srgbClr val="F4271E"/>
                </a:solidFill>
              </a:rPr>
              <a:t>A</a:t>
            </a:r>
            <a:r>
              <a:rPr lang="en" sz="4380">
                <a:solidFill>
                  <a:srgbClr val="F57123"/>
                </a:solidFill>
              </a:rPr>
              <a:t>n</a:t>
            </a:r>
            <a:r>
              <a:rPr lang="en" sz="4380">
                <a:solidFill>
                  <a:srgbClr val="6AA84F"/>
                </a:solidFill>
              </a:rPr>
              <a:t>y</a:t>
            </a:r>
            <a:r>
              <a:rPr lang="en" sz="4380">
                <a:solidFill>
                  <a:srgbClr val="F4271E"/>
                </a:solidFill>
              </a:rPr>
              <a:t> Q</a:t>
            </a:r>
            <a:r>
              <a:rPr lang="en" sz="4380">
                <a:solidFill>
                  <a:srgbClr val="F57123"/>
                </a:solidFill>
              </a:rPr>
              <a:t>u</a:t>
            </a:r>
            <a:r>
              <a:rPr lang="en" sz="4380">
                <a:solidFill>
                  <a:srgbClr val="6AA84F"/>
                </a:solidFill>
              </a:rPr>
              <a:t>e</a:t>
            </a:r>
            <a:r>
              <a:rPr lang="en" sz="4380">
                <a:solidFill>
                  <a:srgbClr val="F4271E"/>
                </a:solidFill>
              </a:rPr>
              <a:t>s</a:t>
            </a:r>
            <a:r>
              <a:rPr lang="en" sz="4380">
                <a:solidFill>
                  <a:srgbClr val="F57123"/>
                </a:solidFill>
              </a:rPr>
              <a:t>t</a:t>
            </a:r>
            <a:r>
              <a:rPr lang="en" sz="4380">
                <a:solidFill>
                  <a:srgbClr val="6AA84F"/>
                </a:solidFill>
              </a:rPr>
              <a:t>i</a:t>
            </a:r>
            <a:r>
              <a:rPr lang="en" sz="4380">
                <a:solidFill>
                  <a:srgbClr val="F4271E"/>
                </a:solidFill>
              </a:rPr>
              <a:t>o</a:t>
            </a:r>
            <a:r>
              <a:rPr lang="en" sz="4380">
                <a:solidFill>
                  <a:srgbClr val="F57123"/>
                </a:solidFill>
              </a:rPr>
              <a:t>n</a:t>
            </a:r>
            <a:r>
              <a:rPr lang="en" sz="4380">
                <a:solidFill>
                  <a:srgbClr val="6AA84F"/>
                </a:solidFill>
              </a:rPr>
              <a:t>s</a:t>
            </a:r>
            <a:r>
              <a:rPr lang="en" sz="4380">
                <a:solidFill>
                  <a:srgbClr val="F4271E"/>
                </a:solidFill>
              </a:rPr>
              <a:t>?</a:t>
            </a:r>
            <a:endParaRPr sz="4380">
              <a:solidFill>
                <a:srgbClr val="F4271E"/>
              </a:solidFill>
            </a:endParaRPr>
          </a:p>
        </p:txBody>
      </p:sp>
      <p:sp>
        <p:nvSpPr>
          <p:cNvPr id="316" name="Google Shape;316;p26"/>
          <p:cNvSpPr/>
          <p:nvPr/>
        </p:nvSpPr>
        <p:spPr>
          <a:xfrm>
            <a:off x="274124" y="4267426"/>
            <a:ext cx="652500" cy="626100"/>
          </a:xfrm>
          <a:prstGeom prst="triangle">
            <a:avLst>
              <a:gd fmla="val 50000" name="adj"/>
            </a:avLst>
          </a:prstGeom>
          <a:solidFill>
            <a:schemeClr val="l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7" name="Google Shape;317;p26"/>
          <p:cNvSpPr/>
          <p:nvPr/>
        </p:nvSpPr>
        <p:spPr>
          <a:xfrm>
            <a:off x="948468" y="4267426"/>
            <a:ext cx="652500" cy="626100"/>
          </a:xfrm>
          <a:prstGeom prst="triangle">
            <a:avLst>
              <a:gd fmla="val 50000" name="adj"/>
            </a:avLst>
          </a:prstGeom>
          <a:solidFill>
            <a:schemeClr val="l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Lato"/>
              <a:ea typeface="Lato"/>
              <a:cs typeface="Lato"/>
              <a:sym typeface="Lato"/>
            </a:endParaRPr>
          </a:p>
        </p:txBody>
      </p:sp>
      <p:sp>
        <p:nvSpPr>
          <p:cNvPr id="318" name="Google Shape;318;p26"/>
          <p:cNvSpPr/>
          <p:nvPr/>
        </p:nvSpPr>
        <p:spPr>
          <a:xfrm>
            <a:off x="1611842" y="4267426"/>
            <a:ext cx="652500" cy="626100"/>
          </a:xfrm>
          <a:prstGeom prst="triangle">
            <a:avLst>
              <a:gd fmla="val 50000" name="adj"/>
            </a:avLst>
          </a:prstGeom>
          <a:solidFill>
            <a:schemeClr val="l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26"/>
          <p:cNvSpPr/>
          <p:nvPr/>
        </p:nvSpPr>
        <p:spPr>
          <a:xfrm>
            <a:off x="8217068" y="4267426"/>
            <a:ext cx="652500" cy="626100"/>
          </a:xfrm>
          <a:prstGeom prst="triangle">
            <a:avLst>
              <a:gd fmla="val 50000" name="adj"/>
            </a:avLst>
          </a:prstGeom>
          <a:solidFill>
            <a:schemeClr val="l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26"/>
          <p:cNvSpPr/>
          <p:nvPr/>
        </p:nvSpPr>
        <p:spPr>
          <a:xfrm>
            <a:off x="7564568" y="4267426"/>
            <a:ext cx="652500" cy="626100"/>
          </a:xfrm>
          <a:prstGeom prst="triangle">
            <a:avLst>
              <a:gd fmla="val 50000" name="adj"/>
            </a:avLst>
          </a:prstGeom>
          <a:solidFill>
            <a:schemeClr val="l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1" name="Google Shape;321;p26"/>
          <p:cNvSpPr/>
          <p:nvPr/>
        </p:nvSpPr>
        <p:spPr>
          <a:xfrm>
            <a:off x="6912068" y="4267426"/>
            <a:ext cx="652500" cy="626100"/>
          </a:xfrm>
          <a:prstGeom prst="triangle">
            <a:avLst>
              <a:gd fmla="val 50000" name="adj"/>
            </a:avLst>
          </a:prstGeom>
          <a:solidFill>
            <a:schemeClr val="l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2" name="Google Shape;322;p26"/>
          <p:cNvSpPr/>
          <p:nvPr/>
        </p:nvSpPr>
        <p:spPr>
          <a:xfrm>
            <a:off x="1433650" y="1303700"/>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3" name="Google Shape;323;p26"/>
          <p:cNvSpPr/>
          <p:nvPr/>
        </p:nvSpPr>
        <p:spPr>
          <a:xfrm>
            <a:off x="4572000" y="402800"/>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4" name="Google Shape;324;p26"/>
          <p:cNvSpPr/>
          <p:nvPr/>
        </p:nvSpPr>
        <p:spPr>
          <a:xfrm>
            <a:off x="686725" y="3404260"/>
            <a:ext cx="449700" cy="4914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5" name="Google Shape;325;p26"/>
          <p:cNvSpPr/>
          <p:nvPr/>
        </p:nvSpPr>
        <p:spPr>
          <a:xfrm>
            <a:off x="7586475" y="3155900"/>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6" name="Google Shape;326;p26"/>
          <p:cNvSpPr/>
          <p:nvPr/>
        </p:nvSpPr>
        <p:spPr>
          <a:xfrm>
            <a:off x="2264350" y="552271"/>
            <a:ext cx="630600" cy="7029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7" name="Google Shape;327;p26"/>
          <p:cNvSpPr/>
          <p:nvPr/>
        </p:nvSpPr>
        <p:spPr>
          <a:xfrm>
            <a:off x="7473250" y="640400"/>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8" name="Google Shape;328;p26"/>
          <p:cNvSpPr/>
          <p:nvPr/>
        </p:nvSpPr>
        <p:spPr>
          <a:xfrm>
            <a:off x="545900" y="2200925"/>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9" name="Google Shape;329;p26"/>
          <p:cNvSpPr/>
          <p:nvPr/>
        </p:nvSpPr>
        <p:spPr>
          <a:xfrm>
            <a:off x="2922650" y="3925850"/>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0" name="Google Shape;330;p26"/>
          <p:cNvSpPr/>
          <p:nvPr/>
        </p:nvSpPr>
        <p:spPr>
          <a:xfrm>
            <a:off x="5192925" y="3895650"/>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1" name="Google Shape;331;p26"/>
          <p:cNvSpPr/>
          <p:nvPr/>
        </p:nvSpPr>
        <p:spPr>
          <a:xfrm>
            <a:off x="7923325" y="1451810"/>
            <a:ext cx="449700" cy="4914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2" name="Google Shape;332;p26"/>
          <p:cNvSpPr/>
          <p:nvPr/>
        </p:nvSpPr>
        <p:spPr>
          <a:xfrm>
            <a:off x="686725" y="402800"/>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3" name="Google Shape;333;p26"/>
          <p:cNvSpPr/>
          <p:nvPr/>
        </p:nvSpPr>
        <p:spPr>
          <a:xfrm>
            <a:off x="1622800" y="3104050"/>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4" name="Google Shape;334;p26"/>
          <p:cNvSpPr/>
          <p:nvPr/>
        </p:nvSpPr>
        <p:spPr>
          <a:xfrm>
            <a:off x="6247825" y="572075"/>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5" name="Google Shape;335;p26"/>
          <p:cNvSpPr/>
          <p:nvPr/>
        </p:nvSpPr>
        <p:spPr>
          <a:xfrm>
            <a:off x="3643400" y="658035"/>
            <a:ext cx="449700" cy="4914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26"/>
          <p:cNvSpPr/>
          <p:nvPr/>
        </p:nvSpPr>
        <p:spPr>
          <a:xfrm>
            <a:off x="4211550" y="3780950"/>
            <a:ext cx="581100" cy="5829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7" name="Google Shape;337;p26"/>
          <p:cNvSpPr/>
          <p:nvPr/>
        </p:nvSpPr>
        <p:spPr>
          <a:xfrm>
            <a:off x="6309350" y="3620210"/>
            <a:ext cx="449700" cy="4914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26"/>
          <p:cNvSpPr/>
          <p:nvPr/>
        </p:nvSpPr>
        <p:spPr>
          <a:xfrm>
            <a:off x="8318475" y="2571760"/>
            <a:ext cx="449700" cy="4914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26"/>
          <p:cNvSpPr/>
          <p:nvPr/>
        </p:nvSpPr>
        <p:spPr>
          <a:xfrm>
            <a:off x="7239900" y="2395525"/>
            <a:ext cx="630600" cy="663300"/>
          </a:xfrm>
          <a:prstGeom prst="mathPlus">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0" name="Google Shape;340;p26"/>
          <p:cNvSpPr/>
          <p:nvPr/>
        </p:nvSpPr>
        <p:spPr>
          <a:xfrm>
            <a:off x="1666075" y="2206510"/>
            <a:ext cx="449700" cy="491400"/>
          </a:xfrm>
          <a:prstGeom prst="mathPlus">
            <a:avLst>
              <a:gd fmla="val 23520" name="adj1"/>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1" name="Google Shape;341;p26"/>
          <p:cNvSpPr/>
          <p:nvPr/>
        </p:nvSpPr>
        <p:spPr>
          <a:xfrm>
            <a:off x="6609300" y="1598000"/>
            <a:ext cx="630600" cy="663300"/>
          </a:xfrm>
          <a:prstGeom prst="mathPlus">
            <a:avLst>
              <a:gd fmla="val 23520" name="adj1"/>
            </a:avLst>
          </a:prstGeom>
          <a:solidFill>
            <a:srgbClr val="F57123"/>
          </a:solidFill>
          <a:ln cap="flat" cmpd="sng" w="9525">
            <a:solidFill>
              <a:srgbClr val="F5712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mc:AlternateContent>
    <mc:Choice Requires="p14">
      <p:transition spd="slow" p14:dur="700">
        <p:push/>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